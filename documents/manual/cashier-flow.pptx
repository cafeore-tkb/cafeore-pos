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</p:sldIdLst>
  <p:notesMasterIdLst>
    <p:notesMasterId r:id="rId4"/>
  </p:notesMasterIdLst>
  <p:sldSz cx="7562088" cy="10689336"/>
  <p:notesSz cx="10689336" cy="7562088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5" Type="http://schemas.openxmlformats.org/officeDocument/2006/relationships/presProps" Target="presProps.xml"/><Relationship Id="rId6" Type="http://schemas.openxmlformats.org/officeDocument/2006/relationships/viewProps" Target="viewProps.xml"/><Relationship Id="rId7" Type="http://schemas.openxmlformats.org/officeDocument/2006/relationships/theme" Target="theme/theme1.xml"/><Relationship Id="rId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HEET">
    <p:bg>
      <p:bgPr>
        <a:solidFill>
          <a:schemeClr val="bg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365760"/>
            <a:ext cx="4389120" cy="54864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ja-JP" altLang="en-US" sz="2600" b="1" dirty="0">
                <a:solidFill>
                  <a:schemeClr val="tx2"/>
                </a:solidFill>
              </a:defRPr>
            </a:lvl1pPr>
          </a:lstStyle>
          <a:p>
            <a:pPr algn="l" indent="0" marL="0">
              <a:buNone/>
            </a:pPr>
            <a:endParaRPr lang="ja-JP" sz="2600" dirty="0"/>
          </a:p>
        </p:txBody>
      </p:sp>
      <p:sp>
        <p:nvSpPr>
          <p:cNvPr id="3" name="Text 0"/>
          <p:cNvSpPr txBox="1"/>
          <p:nvPr/>
        </p:nvSpPr>
        <p:spPr>
          <a:xfrm>
            <a:off x="4361688" y="45720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ja-JP" altLang="en-US" sz="1000" dirty="0">
                <a:solidFill>
                  <a:srgbClr val="8A8079"/>
                </a:solidFill>
              </a:rPr>
              <a:t>珈琲・俺POS　レジ係向け早見表</a:t>
            </a:r>
            <a:endParaRPr lang="ja-JP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6190488" y="10259568"/>
            <a:ext cx="9144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8A8079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1002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6190488" y="10259568"/>
            <a:ext cx="9144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8A8079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image" Target="../media/image-1-3.png"/><Relationship Id="rId4" Type="http://schemas.openxmlformats.org/officeDocument/2006/relationships/image" Target="../media/image-1-4.png"/><Relationship Id="rId5" Type="http://schemas.openxmlformats.org/officeDocument/2006/relationships/image" Target="../media/image-1-5.png"/><Relationship Id="rId6" Type="http://schemas.openxmlformats.org/officeDocument/2006/relationships/image" Target="../media/image-1-6.png"/><Relationship Id="rId7" Type="http://schemas.openxmlformats.org/officeDocument/2006/relationships/image" Target="../media/image-1-7.png"/><Relationship Id="rId8" Type="http://schemas.openxmlformats.org/officeDocument/2006/relationships/slideLayout" Target="../slideLayouts/slideLayout2.xml"/><Relationship Id="rId9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image" Target="../media/image-2-5.png"/><Relationship Id="rId6" Type="http://schemas.openxmlformats.org/officeDocument/2006/relationships/image" Target="../media/image-2-6.png"/><Relationship Id="rId7" Type="http://schemas.openxmlformats.org/officeDocument/2006/relationships/image" Target="../media/image-2-7.png"/><Relationship Id="rId8" Type="http://schemas.openxmlformats.org/officeDocument/2006/relationships/image" Target="../media/image-2-8.png"/><Relationship Id="rId9" Type="http://schemas.openxmlformats.org/officeDocument/2006/relationships/image" Target="../media/image-2-9.png"/><Relationship Id="rId10" Type="http://schemas.openxmlformats.org/officeDocument/2006/relationships/image" Target="../media/image-2-10.png"/><Relationship Id="rId11" Type="http://schemas.openxmlformats.org/officeDocument/2006/relationships/image" Target="../media/image-2-11.png"/><Relationship Id="rId12" Type="http://schemas.openxmlformats.org/officeDocument/2006/relationships/image" Target="../media/image-2-12.png"/><Relationship Id="rId13" Type="http://schemas.openxmlformats.org/officeDocument/2006/relationships/slideLayout" Target="../slideLayouts/slideLayout2.xml"/><Relationship Id="rId14" Type="http://schemas.openxmlformats.org/officeDocument/2006/relationships/notesSlide" Target="../notesSlides/notesSlide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365760"/>
            <a:ext cx="4389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ja-JP" altLang="en-US" sz="2600" b="1" dirty="0">
                <a:solidFill>
                  <a:schemeClr val="tx2"/>
                </a:solidFill>
              </a:rPr>
              <a:t>注文を受ける流れ</a:t>
            </a:r>
            <a:endParaRPr lang="ja-JP" sz="2600" dirty="0"/>
          </a:p>
        </p:txBody>
      </p:sp>
      <p:sp>
        <p:nvSpPr>
          <p:cNvPr id="3" name="Text 1"/>
          <p:cNvSpPr txBox="1"/>
          <p:nvPr/>
        </p:nvSpPr>
        <p:spPr>
          <a:xfrm>
            <a:off x="3813048" y="713232"/>
            <a:ext cx="32918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ja-JP" altLang="en-US" sz="950" b="1" dirty="0">
                <a:solidFill>
                  <a:srgbClr val="57534E"/>
                </a:solidFill>
                <a:highlight>
                  <a:srgbClr val="E7E5E4"/>
                </a:highlight>
              </a:rPr>
              <a:t> Enter </a:t>
            </a:r>
            <a:r>
              <a:rPr lang="ja-JP" altLang="en-US" sz="950" dirty="0">
                <a:solidFill>
                  <a:srgbClr val="57534E"/>
                </a:solidFill>
              </a:rPr>
              <a:t> のような灰色の文字はキーボードのキー</a:t>
            </a:r>
            <a:endParaRPr lang="ja-JP" sz="950" dirty="0"/>
          </a:p>
        </p:txBody>
      </p:sp>
      <p:sp>
        <p:nvSpPr>
          <p:cNvPr id="4" name="step1"/>
          <p:cNvSpPr/>
          <p:nvPr/>
        </p:nvSpPr>
        <p:spPr>
          <a:xfrm>
            <a:off x="457200" y="1051560"/>
            <a:ext cx="6647688" cy="1261872"/>
          </a:xfrm>
          <a:prstGeom prst="roundRect">
            <a:avLst>
              <a:gd name="adj" fmla="val 7246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5" name="step1-num"/>
          <p:cNvSpPr/>
          <p:nvPr/>
        </p:nvSpPr>
        <p:spPr>
          <a:xfrm>
            <a:off x="603504" y="1197864"/>
            <a:ext cx="457200" cy="457200"/>
          </a:xfrm>
          <a:prstGeom prst="ellipse">
            <a:avLst/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</p:spPr>
      </p:sp>
      <p:sp>
        <p:nvSpPr>
          <p:cNvPr id="6" name="step1-num-text"/>
          <p:cNvSpPr txBox="1"/>
          <p:nvPr/>
        </p:nvSpPr>
        <p:spPr>
          <a:xfrm>
            <a:off x="603504" y="1197864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bg1"/>
                </a:solidFill>
              </a:rPr>
              <a:t>1</a:t>
            </a:r>
            <a:endParaRPr lang="en-US" sz="1800" dirty="0"/>
          </a:p>
        </p:txBody>
      </p:sp>
      <p:sp>
        <p:nvSpPr>
          <p:cNvPr id="7" name="step1-title"/>
          <p:cNvSpPr txBox="1"/>
          <p:nvPr/>
        </p:nvSpPr>
        <p:spPr>
          <a:xfrm>
            <a:off x="1188720" y="1197864"/>
            <a:ext cx="3017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ja-JP" altLang="en-US" sz="1600" b="1" dirty="0">
                <a:solidFill>
                  <a:schemeClr val="tx1"/>
                </a:solidFill>
              </a:rPr>
              <a:t>商品を入れる</a:t>
            </a:r>
            <a:endParaRPr lang="ja-JP" sz="1600" dirty="0"/>
          </a:p>
        </p:txBody>
      </p:sp>
      <p:sp>
        <p:nvSpPr>
          <p:cNvPr id="8" name="step1-body"/>
          <p:cNvSpPr txBox="1"/>
          <p:nvPr/>
        </p:nvSpPr>
        <p:spPr>
          <a:xfrm>
            <a:off x="1188720" y="1673352"/>
            <a:ext cx="30175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300"/>
              </a:spcAft>
              <a:buSzPct val="100000"/>
              <a:buChar char="•"/>
            </a:pPr>
            <a:r>
              <a:rPr lang="ja-JP" altLang="en-US" sz="1150" dirty="0">
                <a:solidFill>
                  <a:schemeClr val="tx1"/>
                </a:solidFill>
              </a:rPr>
              <a:t>商品キー（</a:t>
            </a:r>
            <a:r>
              <a:rPr lang="ja-JP" altLang="en-US" sz="1150" b="1" dirty="0">
                <a:solidFill>
                  <a:schemeClr val="tx1"/>
                </a:solidFill>
                <a:highlight>
                  <a:srgbClr val="E7E5E4"/>
                </a:highlight>
              </a:rPr>
              <a:t> q </a:t>
            </a:r>
            <a:r>
              <a:rPr lang="ja-JP" altLang="en-US" sz="1150" dirty="0">
                <a:solidFill>
                  <a:schemeClr val="tx1"/>
                </a:solidFill>
              </a:rPr>
              <a:t> など）かボタン</a:t>
            </a:r>
            <a:endParaRPr lang="ja-JP" sz="1150" dirty="0"/>
          </a:p>
          <a:p>
            <a:pPr marL="152400" indent="-152400">
              <a:spcAft>
                <a:spcPts val="300"/>
              </a:spcAft>
              <a:buSzPct val="100000"/>
              <a:buChar char="•"/>
            </a:pPr>
            <a:r>
              <a:rPr lang="ja-JP" altLang="en-US" sz="1150" dirty="0">
                <a:solidFill>
                  <a:schemeClr val="tx1"/>
                </a:solidFill>
              </a:rPr>
              <a:t>間違えたら </a:t>
            </a:r>
            <a:r>
              <a:rPr lang="ja-JP" altLang="en-US" sz="1150" b="1" dirty="0">
                <a:solidFill>
                  <a:schemeClr val="tx1"/>
                </a:solidFill>
                <a:highlight>
                  <a:srgbClr val="E7E5E4"/>
                </a:highlight>
              </a:rPr>
              <a:t> Backspace </a:t>
            </a:r>
            <a:endParaRPr lang="ja-JP" sz="1150" dirty="0"/>
          </a:p>
          <a:p>
            <a:pPr marL="152400" indent="-152400">
              <a:spcAft>
                <a:spcPts val="300"/>
              </a:spcAft>
              <a:buSzPct val="100000"/>
              <a:buChar char="•"/>
            </a:pPr>
            <a:r>
              <a:rPr lang="ja-JP" altLang="en-US" sz="1150" dirty="0">
                <a:solidFill>
                  <a:schemeClr val="tx1"/>
                </a:solidFill>
              </a:rPr>
              <a:t>全部やめるなら </a:t>
            </a:r>
            <a:r>
              <a:rPr lang="ja-JP" altLang="en-US" sz="1150" b="1" dirty="0">
                <a:solidFill>
                  <a:schemeClr val="tx1"/>
                </a:solidFill>
                <a:highlight>
                  <a:srgbClr val="E7E5E4"/>
                </a:highlight>
              </a:rPr>
              <a:t> Esc </a:t>
            </a:r>
            <a:endParaRPr lang="ja-JP" sz="1150" dirty="0"/>
          </a:p>
        </p:txBody>
      </p:sp>
      <p:sp>
        <p:nvSpPr>
          <p:cNvPr id="9" name="step1-screen-frame"/>
          <p:cNvSpPr/>
          <p:nvPr/>
        </p:nvSpPr>
        <p:spPr>
          <a:xfrm>
            <a:off x="4396740" y="1152144"/>
            <a:ext cx="2462784" cy="1060704"/>
          </a:xfrm>
          <a:prstGeom prst="rect">
            <a:avLst/>
          </a:prstGeom>
          <a:solidFill>
            <a:schemeClr val="bg1"/>
          </a:solidFill>
          <a:ln w="9525">
            <a:solidFill>
              <a:srgbClr val="D6D0CA"/>
            </a:solidFill>
            <a:prstDash val="solid"/>
          </a:ln>
        </p:spPr>
      </p:sp>
      <p:pic>
        <p:nvPicPr>
          <p:cNvPr id="10" name="step1-screen" descr="step1-screen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424172" y="1179576"/>
            <a:ext cx="2407920" cy="1005840"/>
          </a:xfrm>
          <a:prstGeom prst="rect">
            <a:avLst/>
          </a:prstGeom>
        </p:spPr>
      </p:pic>
      <p:sp>
        <p:nvSpPr>
          <p:cNvPr id="11" name="step1-arrow"/>
          <p:cNvSpPr/>
          <p:nvPr/>
        </p:nvSpPr>
        <p:spPr>
          <a:xfrm>
            <a:off x="722376" y="2331720"/>
            <a:ext cx="219456" cy="146304"/>
          </a:xfrm>
          <a:prstGeom prst="downArrow">
            <a:avLst/>
          </a:prstGeom>
          <a:solidFill>
            <a:srgbClr val="C9C1B9"/>
          </a:solidFill>
          <a:ln w="12700">
            <a:solidFill>
              <a:srgbClr val="C9C1B9"/>
            </a:solidFill>
            <a:prstDash val="solid"/>
          </a:ln>
        </p:spPr>
      </p:sp>
      <p:sp>
        <p:nvSpPr>
          <p:cNvPr id="12" name="step2"/>
          <p:cNvSpPr/>
          <p:nvPr/>
        </p:nvSpPr>
        <p:spPr>
          <a:xfrm>
            <a:off x="457200" y="2496312"/>
            <a:ext cx="6647688" cy="1261872"/>
          </a:xfrm>
          <a:prstGeom prst="roundRect">
            <a:avLst>
              <a:gd name="adj" fmla="val 7246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3" name="step2-num"/>
          <p:cNvSpPr/>
          <p:nvPr/>
        </p:nvSpPr>
        <p:spPr>
          <a:xfrm>
            <a:off x="603504" y="2642616"/>
            <a:ext cx="457200" cy="457200"/>
          </a:xfrm>
          <a:prstGeom prst="ellipse">
            <a:avLst/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</p:spPr>
      </p:sp>
      <p:sp>
        <p:nvSpPr>
          <p:cNvPr id="14" name="step2-num-text"/>
          <p:cNvSpPr txBox="1"/>
          <p:nvPr/>
        </p:nvSpPr>
        <p:spPr>
          <a:xfrm>
            <a:off x="603504" y="2642616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bg1"/>
                </a:solidFill>
              </a:rPr>
              <a:t>2</a:t>
            </a:r>
            <a:endParaRPr lang="en-US" sz="1800" dirty="0"/>
          </a:p>
        </p:txBody>
      </p:sp>
      <p:sp>
        <p:nvSpPr>
          <p:cNvPr id="15" name="step2-title"/>
          <p:cNvSpPr txBox="1"/>
          <p:nvPr/>
        </p:nvSpPr>
        <p:spPr>
          <a:xfrm>
            <a:off x="1188720" y="2642616"/>
            <a:ext cx="3017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ja-JP" altLang="en-US" sz="1600" b="1" dirty="0">
                <a:solidFill>
                  <a:schemeClr val="tx1"/>
                </a:solidFill>
              </a:rPr>
              <a:t>指名する</a:t>
            </a:r>
            <a:r>
              <a:rPr lang="ja-JP" altLang="en-US" sz="1100" dirty="0">
                <a:solidFill>
                  <a:srgbClr val="57534E"/>
                </a:solidFill>
              </a:rPr>
              <a:t>（あれば）</a:t>
            </a:r>
            <a:endParaRPr lang="ja-JP" sz="1600" dirty="0"/>
          </a:p>
        </p:txBody>
      </p:sp>
      <p:sp>
        <p:nvSpPr>
          <p:cNvPr id="16" name="step2-body"/>
          <p:cNvSpPr txBox="1"/>
          <p:nvPr/>
        </p:nvSpPr>
        <p:spPr>
          <a:xfrm>
            <a:off x="1188720" y="3118104"/>
            <a:ext cx="30175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300"/>
              </a:spcAft>
              <a:buSzPct val="100000"/>
              <a:buChar char="•"/>
            </a:pPr>
            <a:r>
              <a:rPr lang="ja-JP" altLang="en-US" sz="1150" b="1" dirty="0">
                <a:solidFill>
                  <a:schemeClr val="tx1"/>
                </a:solidFill>
                <a:highlight>
                  <a:srgbClr val="E7E5E4"/>
                </a:highlight>
              </a:rPr>
              <a:t> ↑ </a:t>
            </a:r>
            <a:r>
              <a:rPr lang="ja-JP" altLang="en-US" sz="1150" b="1" dirty="0">
                <a:solidFill>
                  <a:schemeClr val="tx1"/>
                </a:solidFill>
                <a:highlight>
                  <a:srgbClr val="E7E5E4"/>
                </a:highlight>
              </a:rPr>
              <a:t> ↓ </a:t>
            </a:r>
            <a:r>
              <a:rPr lang="ja-JP" altLang="en-US" sz="1150" dirty="0">
                <a:solidFill>
                  <a:schemeClr val="tx1"/>
                </a:solidFill>
              </a:rPr>
              <a:t> で行を選ぶ</a:t>
            </a:r>
            <a:endParaRPr lang="ja-JP" sz="1150" dirty="0"/>
          </a:p>
          <a:p>
            <a:pPr marL="152400" indent="-152400">
              <a:spcAft>
                <a:spcPts val="300"/>
              </a:spcAft>
              <a:buSzPct val="100000"/>
              <a:buChar char="•"/>
            </a:pPr>
            <a:r>
              <a:rPr lang="ja-JP" altLang="en-US" sz="1150" dirty="0">
                <a:solidFill>
                  <a:schemeClr val="tx1"/>
                </a:solidFill>
              </a:rPr>
              <a:t>数字 </a:t>
            </a:r>
            <a:r>
              <a:rPr lang="ja-JP" altLang="en-US" sz="1150" b="1" dirty="0">
                <a:solidFill>
                  <a:schemeClr val="tx1"/>
                </a:solidFill>
                <a:highlight>
                  <a:srgbClr val="E7E5E4"/>
                </a:highlight>
              </a:rPr>
              <a:t> 1 </a:t>
            </a:r>
            <a:r>
              <a:rPr lang="ja-JP" altLang="en-US" sz="1150" dirty="0">
                <a:solidFill>
                  <a:schemeClr val="tx1"/>
                </a:solidFill>
              </a:rPr>
              <a:t>〜</a:t>
            </a:r>
            <a:r>
              <a:rPr lang="ja-JP" altLang="en-US" sz="1150" b="1" dirty="0">
                <a:solidFill>
                  <a:schemeClr val="tx1"/>
                </a:solidFill>
                <a:highlight>
                  <a:srgbClr val="E7E5E4"/>
                </a:highlight>
              </a:rPr>
              <a:t> 6 </a:t>
            </a:r>
            <a:r>
              <a:rPr lang="ja-JP" altLang="en-US" sz="1150" dirty="0">
                <a:solidFill>
                  <a:schemeClr val="tx1"/>
                </a:solidFill>
              </a:rPr>
              <a:t> で指名（</a:t>
            </a:r>
            <a:r>
              <a:rPr lang="ja-JP" altLang="en-US" sz="1150" b="1" dirty="0">
                <a:solidFill>
                  <a:schemeClr val="tx1"/>
                </a:solidFill>
                <a:highlight>
                  <a:srgbClr val="E7E5E4"/>
                </a:highlight>
              </a:rPr>
              <a:t> 0 </a:t>
            </a:r>
            <a:r>
              <a:rPr lang="ja-JP" altLang="en-US" sz="1150" dirty="0">
                <a:solidFill>
                  <a:schemeClr val="tx1"/>
                </a:solidFill>
              </a:rPr>
              <a:t> で外す）</a:t>
            </a:r>
            <a:endParaRPr lang="ja-JP" sz="1150" dirty="0"/>
          </a:p>
          <a:p>
            <a:pPr marL="152400" indent="-152400">
              <a:spcAft>
                <a:spcPts val="300"/>
              </a:spcAft>
              <a:buSzPct val="100000"/>
              <a:buChar char="•"/>
            </a:pPr>
            <a:r>
              <a:rPr lang="ja-JP" altLang="en-US" sz="1150" dirty="0">
                <a:solidFill>
                  <a:schemeClr val="tx1"/>
                </a:solidFill>
              </a:rPr>
              <a:t>名前を書くときは </a:t>
            </a:r>
            <a:r>
              <a:rPr lang="ja-JP" altLang="en-US" sz="1150" b="1" dirty="0">
                <a:solidFill>
                  <a:schemeClr val="tx1"/>
                </a:solidFill>
                <a:highlight>
                  <a:srgbClr val="E7E5E4"/>
                </a:highlight>
              </a:rPr>
              <a:t> Space </a:t>
            </a:r>
            <a:endParaRPr lang="ja-JP" sz="1150" dirty="0"/>
          </a:p>
        </p:txBody>
      </p:sp>
      <p:sp>
        <p:nvSpPr>
          <p:cNvPr id="17" name="step2-screen-frame"/>
          <p:cNvSpPr/>
          <p:nvPr/>
        </p:nvSpPr>
        <p:spPr>
          <a:xfrm>
            <a:off x="4270248" y="2610136"/>
            <a:ext cx="2715768" cy="1034224"/>
          </a:xfrm>
          <a:prstGeom prst="rect">
            <a:avLst/>
          </a:prstGeom>
          <a:solidFill>
            <a:schemeClr val="bg1"/>
          </a:solidFill>
          <a:ln w="9525">
            <a:solidFill>
              <a:srgbClr val="D6D0CA"/>
            </a:solidFill>
            <a:prstDash val="solid"/>
          </a:ln>
        </p:spPr>
      </p:sp>
      <p:pic>
        <p:nvPicPr>
          <p:cNvPr id="18" name="step2-screen" descr="step2-screen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97680" y="2637568"/>
            <a:ext cx="2660904" cy="979360"/>
          </a:xfrm>
          <a:prstGeom prst="rect">
            <a:avLst/>
          </a:prstGeom>
        </p:spPr>
      </p:pic>
      <p:sp>
        <p:nvSpPr>
          <p:cNvPr id="19" name="step2-arrow"/>
          <p:cNvSpPr/>
          <p:nvPr/>
        </p:nvSpPr>
        <p:spPr>
          <a:xfrm>
            <a:off x="722376" y="3776472"/>
            <a:ext cx="219456" cy="146304"/>
          </a:xfrm>
          <a:prstGeom prst="downArrow">
            <a:avLst/>
          </a:prstGeom>
          <a:solidFill>
            <a:srgbClr val="C9C1B9"/>
          </a:solidFill>
          <a:ln w="12700">
            <a:solidFill>
              <a:srgbClr val="C9C1B9"/>
            </a:solidFill>
            <a:prstDash val="solid"/>
          </a:ln>
        </p:spPr>
      </p:sp>
      <p:sp>
        <p:nvSpPr>
          <p:cNvPr id="20" name="step3"/>
          <p:cNvSpPr/>
          <p:nvPr/>
        </p:nvSpPr>
        <p:spPr>
          <a:xfrm>
            <a:off x="457200" y="3941064"/>
            <a:ext cx="6647688" cy="1417320"/>
          </a:xfrm>
          <a:prstGeom prst="roundRect">
            <a:avLst>
              <a:gd name="adj" fmla="val 6452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21" name="step3-num"/>
          <p:cNvSpPr/>
          <p:nvPr/>
        </p:nvSpPr>
        <p:spPr>
          <a:xfrm>
            <a:off x="603504" y="4087368"/>
            <a:ext cx="457200" cy="457200"/>
          </a:xfrm>
          <a:prstGeom prst="ellipse">
            <a:avLst/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</p:spPr>
      </p:sp>
      <p:sp>
        <p:nvSpPr>
          <p:cNvPr id="22" name="step3-num-text"/>
          <p:cNvSpPr txBox="1"/>
          <p:nvPr/>
        </p:nvSpPr>
        <p:spPr>
          <a:xfrm>
            <a:off x="603504" y="408736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bg1"/>
                </a:solidFill>
              </a:rPr>
              <a:t>3</a:t>
            </a:r>
            <a:endParaRPr lang="en-US" sz="1800" dirty="0"/>
          </a:p>
        </p:txBody>
      </p:sp>
      <p:sp>
        <p:nvSpPr>
          <p:cNvPr id="23" name="step3-title"/>
          <p:cNvSpPr txBox="1"/>
          <p:nvPr/>
        </p:nvSpPr>
        <p:spPr>
          <a:xfrm>
            <a:off x="1188720" y="4087368"/>
            <a:ext cx="3017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ja-JP" altLang="en-US" sz="1600" b="1" dirty="0">
                <a:solidFill>
                  <a:schemeClr val="tx1"/>
                </a:solidFill>
              </a:rPr>
              <a:t>割引・備考</a:t>
            </a:r>
            <a:r>
              <a:rPr lang="ja-JP" altLang="en-US" sz="1100" dirty="0">
                <a:solidFill>
                  <a:srgbClr val="57534E"/>
                </a:solidFill>
              </a:rPr>
              <a:t>（あれば）</a:t>
            </a:r>
            <a:endParaRPr lang="ja-JP" sz="1600" dirty="0"/>
          </a:p>
        </p:txBody>
      </p:sp>
      <p:sp>
        <p:nvSpPr>
          <p:cNvPr id="24" name="step3-body"/>
          <p:cNvSpPr txBox="1"/>
          <p:nvPr/>
        </p:nvSpPr>
        <p:spPr>
          <a:xfrm>
            <a:off x="1188720" y="4562856"/>
            <a:ext cx="3017520" cy="7223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300"/>
              </a:spcAft>
              <a:buSzPct val="100000"/>
              <a:buChar char="•"/>
            </a:pPr>
            <a:r>
              <a:rPr lang="ja-JP" altLang="en-US" sz="1150" b="1" dirty="0">
                <a:solidFill>
                  <a:schemeClr val="tx1"/>
                </a:solidFill>
                <a:highlight>
                  <a:srgbClr val="E7E5E4"/>
                </a:highlight>
              </a:rPr>
              <a:t> ↓ </a:t>
            </a:r>
            <a:r>
              <a:rPr lang="ja-JP" altLang="en-US" sz="1150" dirty="0">
                <a:solidFill>
                  <a:schemeClr val="tx1"/>
                </a:solidFill>
              </a:rPr>
              <a:t> で割引の欄へ</a:t>
            </a:r>
            <a:endParaRPr lang="ja-JP" sz="1150" dirty="0"/>
          </a:p>
          <a:p>
            <a:pPr marL="152400" indent="-152400">
              <a:spcAft>
                <a:spcPts val="300"/>
              </a:spcAft>
              <a:buSzPct val="100000"/>
              <a:buChar char="•"/>
            </a:pPr>
            <a:r>
              <a:rPr lang="ja-JP" altLang="en-US" sz="1150" dirty="0">
                <a:solidFill>
                  <a:schemeClr val="tx1"/>
                </a:solidFill>
              </a:rPr>
              <a:t>引換券番号を 3 桁で打つ（例 </a:t>
            </a:r>
            <a:r>
              <a:rPr lang="ja-JP" altLang="en-US" sz="1150" b="1" dirty="0">
                <a:solidFill>
                  <a:schemeClr val="tx1"/>
                </a:solidFill>
                <a:highlight>
                  <a:srgbClr val="E7E5E4"/>
                </a:highlight>
              </a:rPr>
              <a:t> 001 </a:t>
            </a:r>
            <a:r>
              <a:rPr lang="ja-JP" altLang="en-US" sz="1150" dirty="0">
                <a:solidFill>
                  <a:schemeClr val="tx1"/>
                </a:solidFill>
              </a:rPr>
              <a:t>）</a:t>
            </a:r>
            <a:endParaRPr lang="ja-JP" sz="1150" dirty="0"/>
          </a:p>
          <a:p>
            <a:pPr marL="152400" indent="-152400">
              <a:spcAft>
                <a:spcPts val="300"/>
              </a:spcAft>
              <a:buSzPct val="100000"/>
              <a:buChar char="•"/>
            </a:pPr>
            <a:r>
              <a:rPr lang="ja-JP" altLang="en-US" sz="1150" dirty="0">
                <a:solidFill>
                  <a:schemeClr val="tx1"/>
                </a:solidFill>
              </a:rPr>
              <a:t>今年以外の券は「特殊な割引」</a:t>
            </a:r>
            <a:endParaRPr lang="ja-JP" sz="1150" dirty="0"/>
          </a:p>
          <a:p>
            <a:pPr marL="152400" indent="-152400">
              <a:spcAft>
                <a:spcPts val="300"/>
              </a:spcAft>
              <a:buSzPct val="100000"/>
              <a:buChar char="•"/>
            </a:pPr>
            <a:r>
              <a:rPr lang="ja-JP" altLang="en-US" sz="1150" dirty="0">
                <a:solidFill>
                  <a:schemeClr val="tx1"/>
                </a:solidFill>
              </a:rPr>
              <a:t>備考は </a:t>
            </a:r>
            <a:r>
              <a:rPr lang="ja-JP" altLang="en-US" sz="1150" b="1" dirty="0">
                <a:solidFill>
                  <a:schemeClr val="tx1"/>
                </a:solidFill>
                <a:highlight>
                  <a:srgbClr val="E7E5E4"/>
                </a:highlight>
              </a:rPr>
              <a:t> Space </a:t>
            </a:r>
            <a:r>
              <a:rPr lang="ja-JP" altLang="en-US" sz="1150" dirty="0">
                <a:solidFill>
                  <a:schemeClr val="tx1"/>
                </a:solidFill>
              </a:rPr>
              <a:t> で書く</a:t>
            </a:r>
            <a:endParaRPr lang="ja-JP" sz="1150" dirty="0"/>
          </a:p>
        </p:txBody>
      </p:sp>
      <p:sp>
        <p:nvSpPr>
          <p:cNvPr id="25" name="step3-screen-frame"/>
          <p:cNvSpPr/>
          <p:nvPr/>
        </p:nvSpPr>
        <p:spPr>
          <a:xfrm>
            <a:off x="4270248" y="4173409"/>
            <a:ext cx="2715768" cy="952630"/>
          </a:xfrm>
          <a:prstGeom prst="rect">
            <a:avLst/>
          </a:prstGeom>
          <a:solidFill>
            <a:schemeClr val="bg1"/>
          </a:solidFill>
          <a:ln w="9525">
            <a:solidFill>
              <a:srgbClr val="D6D0CA"/>
            </a:solidFill>
            <a:prstDash val="solid"/>
          </a:ln>
        </p:spPr>
      </p:sp>
      <p:pic>
        <p:nvPicPr>
          <p:cNvPr id="26" name="step3-screen" descr="step3-screen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97680" y="4200841"/>
            <a:ext cx="2660904" cy="897766"/>
          </a:xfrm>
          <a:prstGeom prst="rect">
            <a:avLst/>
          </a:prstGeom>
        </p:spPr>
      </p:pic>
      <p:sp>
        <p:nvSpPr>
          <p:cNvPr id="27" name="step3-arrow"/>
          <p:cNvSpPr/>
          <p:nvPr/>
        </p:nvSpPr>
        <p:spPr>
          <a:xfrm>
            <a:off x="722376" y="5376672"/>
            <a:ext cx="219456" cy="146304"/>
          </a:xfrm>
          <a:prstGeom prst="downArrow">
            <a:avLst/>
          </a:prstGeom>
          <a:solidFill>
            <a:srgbClr val="C9C1B9"/>
          </a:solidFill>
          <a:ln w="12700">
            <a:solidFill>
              <a:srgbClr val="C9C1B9"/>
            </a:solidFill>
            <a:prstDash val="solid"/>
          </a:ln>
        </p:spPr>
      </p:sp>
      <p:sp>
        <p:nvSpPr>
          <p:cNvPr id="28" name="step4"/>
          <p:cNvSpPr/>
          <p:nvPr/>
        </p:nvSpPr>
        <p:spPr>
          <a:xfrm>
            <a:off x="457200" y="5541264"/>
            <a:ext cx="6647688" cy="1417320"/>
          </a:xfrm>
          <a:prstGeom prst="roundRect">
            <a:avLst>
              <a:gd name="adj" fmla="val 6452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29" name="step4-num"/>
          <p:cNvSpPr/>
          <p:nvPr/>
        </p:nvSpPr>
        <p:spPr>
          <a:xfrm>
            <a:off x="603504" y="5687568"/>
            <a:ext cx="457200" cy="457200"/>
          </a:xfrm>
          <a:prstGeom prst="ellipse">
            <a:avLst/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</p:spPr>
      </p:sp>
      <p:sp>
        <p:nvSpPr>
          <p:cNvPr id="30" name="step4-num-text"/>
          <p:cNvSpPr txBox="1"/>
          <p:nvPr/>
        </p:nvSpPr>
        <p:spPr>
          <a:xfrm>
            <a:off x="603504" y="568756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bg1"/>
                </a:solidFill>
              </a:rPr>
              <a:t>4</a:t>
            </a:r>
            <a:endParaRPr lang="en-US" sz="1800" dirty="0"/>
          </a:p>
        </p:txBody>
      </p:sp>
      <p:sp>
        <p:nvSpPr>
          <p:cNvPr id="31" name="step4-title"/>
          <p:cNvSpPr txBox="1"/>
          <p:nvPr/>
        </p:nvSpPr>
        <p:spPr>
          <a:xfrm>
            <a:off x="1188720" y="5687568"/>
            <a:ext cx="3017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ja-JP" altLang="en-US" sz="1600" b="1" dirty="0">
                <a:solidFill>
                  <a:schemeClr val="tx1"/>
                </a:solidFill>
              </a:rPr>
              <a:t>会計に進む</a:t>
            </a:r>
            <a:endParaRPr lang="ja-JP" sz="1600" dirty="0"/>
          </a:p>
        </p:txBody>
      </p:sp>
      <p:sp>
        <p:nvSpPr>
          <p:cNvPr id="32" name="step4-body"/>
          <p:cNvSpPr txBox="1"/>
          <p:nvPr/>
        </p:nvSpPr>
        <p:spPr>
          <a:xfrm>
            <a:off x="1188720" y="6163056"/>
            <a:ext cx="3017520" cy="7223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300"/>
              </a:spcAft>
              <a:buSzPct val="100000"/>
              <a:buChar char="•"/>
            </a:pPr>
            <a:r>
              <a:rPr lang="ja-JP" altLang="en-US" sz="1150" b="1" dirty="0">
                <a:solidFill>
                  <a:schemeClr val="tx1"/>
                </a:solidFill>
                <a:highlight>
                  <a:srgbClr val="E7E5E4"/>
                </a:highlight>
              </a:rPr>
              <a:t> Enter </a:t>
            </a:r>
            <a:r>
              <a:rPr lang="ja-JP" altLang="en-US" sz="1150" dirty="0">
                <a:solidFill>
                  <a:schemeClr val="tx1"/>
                </a:solidFill>
              </a:rPr>
              <a:t>（一括会計）</a:t>
            </a:r>
            <a:endParaRPr lang="ja-JP" sz="1150" dirty="0"/>
          </a:p>
          <a:p>
            <a:pPr marL="152400" indent="-152400">
              <a:spcAft>
                <a:spcPts val="300"/>
              </a:spcAft>
              <a:buSzPct val="100000"/>
              <a:buChar char="•"/>
            </a:pPr>
            <a:r>
              <a:rPr lang="ja-JP" altLang="en-US" sz="1150" dirty="0">
                <a:solidFill>
                  <a:schemeClr val="tx1"/>
                </a:solidFill>
              </a:rPr>
              <a:t>Square 端末にも払い方を選ぶ画面が出る（お客さんが選べる）</a:t>
            </a:r>
            <a:endParaRPr lang="ja-JP" sz="1150" dirty="0"/>
          </a:p>
          <a:p>
            <a:pPr marL="152400" indent="-152400">
              <a:spcAft>
                <a:spcPts val="300"/>
              </a:spcAft>
              <a:buSzPct val="100000"/>
              <a:buChar char="•"/>
            </a:pPr>
            <a:r>
              <a:rPr lang="ja-JP" altLang="en-US" sz="1150" dirty="0">
                <a:solidFill>
                  <a:schemeClr val="tx1"/>
                </a:solidFill>
              </a:rPr>
              <a:t>戻るときは </a:t>
            </a:r>
            <a:r>
              <a:rPr lang="ja-JP" altLang="en-US" sz="1150" b="1" dirty="0">
                <a:solidFill>
                  <a:schemeClr val="tx1"/>
                </a:solidFill>
                <a:highlight>
                  <a:srgbClr val="E7E5E4"/>
                </a:highlight>
              </a:rPr>
              <a:t> Esc </a:t>
            </a:r>
            <a:endParaRPr lang="ja-JP" sz="1150" dirty="0"/>
          </a:p>
        </p:txBody>
      </p:sp>
      <p:sp>
        <p:nvSpPr>
          <p:cNvPr id="33" name="step4-screen-frame"/>
          <p:cNvSpPr/>
          <p:nvPr/>
        </p:nvSpPr>
        <p:spPr>
          <a:xfrm>
            <a:off x="4525679" y="5641848"/>
            <a:ext cx="2204906" cy="1216152"/>
          </a:xfrm>
          <a:prstGeom prst="rect">
            <a:avLst/>
          </a:prstGeom>
          <a:solidFill>
            <a:schemeClr val="bg1"/>
          </a:solidFill>
          <a:ln w="9525">
            <a:solidFill>
              <a:srgbClr val="D6D0CA"/>
            </a:solidFill>
            <a:prstDash val="solid"/>
          </a:ln>
        </p:spPr>
      </p:sp>
      <p:pic>
        <p:nvPicPr>
          <p:cNvPr id="34" name="step4-screen" descr="step4-screen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53111" y="5669280"/>
            <a:ext cx="2150042" cy="1161288"/>
          </a:xfrm>
          <a:prstGeom prst="rect">
            <a:avLst/>
          </a:prstGeom>
        </p:spPr>
      </p:pic>
      <p:sp>
        <p:nvSpPr>
          <p:cNvPr id="35" name="step4-arrow"/>
          <p:cNvSpPr/>
          <p:nvPr/>
        </p:nvSpPr>
        <p:spPr>
          <a:xfrm>
            <a:off x="722376" y="6976872"/>
            <a:ext cx="219456" cy="146304"/>
          </a:xfrm>
          <a:prstGeom prst="downArrow">
            <a:avLst/>
          </a:prstGeom>
          <a:solidFill>
            <a:srgbClr val="C9C1B9"/>
          </a:solidFill>
          <a:ln w="12700">
            <a:solidFill>
              <a:srgbClr val="C9C1B9"/>
            </a:solidFill>
            <a:prstDash val="solid"/>
          </a:ln>
        </p:spPr>
      </p:sp>
      <p:sp>
        <p:nvSpPr>
          <p:cNvPr id="36" name="step5"/>
          <p:cNvSpPr/>
          <p:nvPr/>
        </p:nvSpPr>
        <p:spPr>
          <a:xfrm>
            <a:off x="457200" y="7141464"/>
            <a:ext cx="6647688" cy="1691640"/>
          </a:xfrm>
          <a:prstGeom prst="roundRect">
            <a:avLst>
              <a:gd name="adj" fmla="val 5405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37" name="step5-num"/>
          <p:cNvSpPr/>
          <p:nvPr/>
        </p:nvSpPr>
        <p:spPr>
          <a:xfrm>
            <a:off x="603504" y="7287768"/>
            <a:ext cx="457200" cy="457200"/>
          </a:xfrm>
          <a:prstGeom prst="ellipse">
            <a:avLst/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</p:spPr>
      </p:sp>
      <p:sp>
        <p:nvSpPr>
          <p:cNvPr id="38" name="step5-num-text"/>
          <p:cNvSpPr txBox="1"/>
          <p:nvPr/>
        </p:nvSpPr>
        <p:spPr>
          <a:xfrm>
            <a:off x="603504" y="728776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bg1"/>
                </a:solidFill>
              </a:rPr>
              <a:t>5</a:t>
            </a:r>
            <a:endParaRPr lang="en-US" sz="1800" dirty="0"/>
          </a:p>
        </p:txBody>
      </p:sp>
      <p:sp>
        <p:nvSpPr>
          <p:cNvPr id="39" name="step5-title"/>
          <p:cNvSpPr txBox="1"/>
          <p:nvPr/>
        </p:nvSpPr>
        <p:spPr>
          <a:xfrm>
            <a:off x="1188720" y="7287768"/>
            <a:ext cx="3017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ja-JP" altLang="en-US" sz="1600" b="1" dirty="0">
                <a:solidFill>
                  <a:schemeClr val="tx1"/>
                </a:solidFill>
              </a:rPr>
              <a:t>受け取る</a:t>
            </a:r>
            <a:endParaRPr lang="ja-JP" sz="1600" dirty="0"/>
          </a:p>
        </p:txBody>
      </p:sp>
      <p:sp>
        <p:nvSpPr>
          <p:cNvPr id="40" name="step5-body"/>
          <p:cNvSpPr txBox="1"/>
          <p:nvPr/>
        </p:nvSpPr>
        <p:spPr>
          <a:xfrm>
            <a:off x="1188720" y="7763256"/>
            <a:ext cx="3017520" cy="9966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300"/>
              </a:spcAft>
              <a:buSzPct val="100000"/>
              <a:buChar char="•"/>
            </a:pPr>
            <a:r>
              <a:rPr lang="ja-JP" altLang="en-US" sz="1150" b="1" dirty="0">
                <a:solidFill>
                  <a:schemeClr val="accent2"/>
                </a:solidFill>
              </a:rPr>
              <a:t>現金：</a:t>
            </a:r>
            <a:r>
              <a:rPr lang="ja-JP" altLang="en-US" sz="1150" dirty="0">
                <a:solidFill>
                  <a:schemeClr val="tx1"/>
                </a:solidFill>
              </a:rPr>
              <a:t>金額を打つ → お釣りを見て </a:t>
            </a:r>
            <a:r>
              <a:rPr lang="ja-JP" altLang="en-US" sz="1150" b="1" dirty="0">
                <a:solidFill>
                  <a:schemeClr val="tx1"/>
                </a:solidFill>
                <a:highlight>
                  <a:srgbClr val="E7E5E4"/>
                </a:highlight>
              </a:rPr>
              <a:t> Enter </a:t>
            </a:r>
            <a:endParaRPr lang="ja-JP" sz="1150" dirty="0"/>
          </a:p>
          <a:p>
            <a:pPr marL="152400" indent="-152400">
              <a:spcAft>
                <a:spcPts val="300"/>
              </a:spcAft>
              <a:buSzPct val="100000"/>
              <a:buChar char="•"/>
            </a:pPr>
            <a:r>
              <a:rPr lang="ja-JP" altLang="en-US" sz="1150" dirty="0">
                <a:solidFill>
                  <a:schemeClr val="tx1"/>
                </a:solidFill>
              </a:rPr>
              <a:t>ちょうどなら、空のまま </a:t>
            </a:r>
            <a:r>
              <a:rPr lang="ja-JP" altLang="en-US" sz="1150" b="1" dirty="0">
                <a:solidFill>
                  <a:schemeClr val="tx1"/>
                </a:solidFill>
                <a:highlight>
                  <a:srgbClr val="E7E5E4"/>
                </a:highlight>
              </a:rPr>
              <a:t> Enter </a:t>
            </a:r>
            <a:r>
              <a:rPr lang="ja-JP" altLang="en-US" sz="1150" dirty="0">
                <a:solidFill>
                  <a:schemeClr val="tx1"/>
                </a:solidFill>
              </a:rPr>
              <a:t> を 2 回</a:t>
            </a:r>
            <a:endParaRPr lang="ja-JP" sz="1150" dirty="0"/>
          </a:p>
          <a:p>
            <a:pPr marL="152400" indent="-152400">
              <a:spcAft>
                <a:spcPts val="300"/>
              </a:spcAft>
              <a:buSzPct val="100000"/>
              <a:buChar char="•"/>
            </a:pPr>
            <a:r>
              <a:rPr lang="ja-JP" altLang="en-US" sz="1150" b="1" dirty="0">
                <a:solidFill>
                  <a:schemeClr val="accent1"/>
                </a:solidFill>
              </a:rPr>
              <a:t>カード・QR：</a:t>
            </a:r>
            <a:r>
              <a:rPr lang="ja-JP" altLang="en-US" sz="1150" dirty="0">
                <a:solidFill>
                  <a:schemeClr val="tx1"/>
                </a:solidFill>
              </a:rPr>
              <a:t>お客さんが端末で選ぶ（レジで選ぶなら </a:t>
            </a:r>
            <a:r>
              <a:rPr lang="ja-JP" altLang="en-US" sz="1150" b="1" dirty="0">
                <a:solidFill>
                  <a:schemeClr val="tx1"/>
                </a:solidFill>
                <a:highlight>
                  <a:srgbClr val="E7E5E4"/>
                </a:highlight>
              </a:rPr>
              <a:t> ↓ </a:t>
            </a:r>
            <a:r>
              <a:rPr lang="ja-JP" altLang="en-US" sz="1150" dirty="0">
                <a:solidFill>
                  <a:schemeClr val="tx1"/>
                </a:solidFill>
              </a:rPr>
              <a:t> → </a:t>
            </a:r>
            <a:r>
              <a:rPr lang="ja-JP" altLang="en-US" sz="1150" b="1" dirty="0">
                <a:solidFill>
                  <a:schemeClr val="tx1"/>
                </a:solidFill>
                <a:highlight>
                  <a:srgbClr val="E7E5E4"/>
                </a:highlight>
              </a:rPr>
              <a:t> Enter </a:t>
            </a:r>
            <a:r>
              <a:rPr lang="ja-JP" altLang="en-US" sz="1150" dirty="0">
                <a:solidFill>
                  <a:schemeClr val="tx1"/>
                </a:solidFill>
              </a:rPr>
              <a:t>）</a:t>
            </a:r>
            <a:endParaRPr lang="ja-JP" sz="1150" dirty="0"/>
          </a:p>
          <a:p>
            <a:pPr marL="152400" indent="-152400">
              <a:spcAft>
                <a:spcPts val="300"/>
              </a:spcAft>
              <a:buSzPct val="100000"/>
              <a:buChar char="•"/>
            </a:pPr>
            <a:r>
              <a:rPr lang="ja-JP" altLang="en-US" sz="1150" dirty="0">
                <a:solidFill>
                  <a:schemeClr val="tx1"/>
                </a:solidFill>
              </a:rPr>
              <a:t>端末で払ってもらうと、自動で送信</a:t>
            </a:r>
            <a:endParaRPr lang="ja-JP" sz="1150" dirty="0"/>
          </a:p>
        </p:txBody>
      </p:sp>
      <p:sp>
        <p:nvSpPr>
          <p:cNvPr id="41" name="step5-cash-screen-frame"/>
          <p:cNvSpPr/>
          <p:nvPr/>
        </p:nvSpPr>
        <p:spPr>
          <a:xfrm>
            <a:off x="4270248" y="7636930"/>
            <a:ext cx="1321308" cy="700708"/>
          </a:xfrm>
          <a:prstGeom prst="rect">
            <a:avLst/>
          </a:prstGeom>
          <a:solidFill>
            <a:schemeClr val="bg1"/>
          </a:solidFill>
          <a:ln w="9525">
            <a:solidFill>
              <a:srgbClr val="D6D0CA"/>
            </a:solidFill>
            <a:prstDash val="solid"/>
          </a:ln>
        </p:spPr>
      </p:sp>
      <p:pic>
        <p:nvPicPr>
          <p:cNvPr id="42" name="step5-cash-screen" descr="step5-cash-screen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297680" y="7664362"/>
            <a:ext cx="1266444" cy="645844"/>
          </a:xfrm>
          <a:prstGeom prst="rect">
            <a:avLst/>
          </a:prstGeom>
        </p:spPr>
      </p:pic>
      <p:sp>
        <p:nvSpPr>
          <p:cNvPr id="43" name="step5-square-screen-frame"/>
          <p:cNvSpPr/>
          <p:nvPr/>
        </p:nvSpPr>
        <p:spPr>
          <a:xfrm>
            <a:off x="5664708" y="7508337"/>
            <a:ext cx="1321308" cy="957894"/>
          </a:xfrm>
          <a:prstGeom prst="rect">
            <a:avLst/>
          </a:prstGeom>
          <a:solidFill>
            <a:schemeClr val="bg1"/>
          </a:solidFill>
          <a:ln w="9525">
            <a:solidFill>
              <a:srgbClr val="D6D0CA"/>
            </a:solidFill>
            <a:prstDash val="solid"/>
          </a:ln>
        </p:spPr>
      </p:sp>
      <p:pic>
        <p:nvPicPr>
          <p:cNvPr id="44" name="step5-square-screen" descr="step5-square-screen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692140" y="7535769"/>
            <a:ext cx="1266444" cy="903030"/>
          </a:xfrm>
          <a:prstGeom prst="rect">
            <a:avLst/>
          </a:prstGeom>
        </p:spPr>
      </p:pic>
      <p:sp>
        <p:nvSpPr>
          <p:cNvPr id="45" name="step5-arrow"/>
          <p:cNvSpPr/>
          <p:nvPr/>
        </p:nvSpPr>
        <p:spPr>
          <a:xfrm>
            <a:off x="722376" y="8851392"/>
            <a:ext cx="219456" cy="146304"/>
          </a:xfrm>
          <a:prstGeom prst="downArrow">
            <a:avLst/>
          </a:prstGeom>
          <a:solidFill>
            <a:srgbClr val="C9C1B9"/>
          </a:solidFill>
          <a:ln w="12700">
            <a:solidFill>
              <a:srgbClr val="C9C1B9"/>
            </a:solidFill>
            <a:prstDash val="solid"/>
          </a:ln>
        </p:spPr>
      </p:sp>
      <p:sp>
        <p:nvSpPr>
          <p:cNvPr id="46" name="step6"/>
          <p:cNvSpPr/>
          <p:nvPr/>
        </p:nvSpPr>
        <p:spPr>
          <a:xfrm>
            <a:off x="457200" y="9015984"/>
            <a:ext cx="6647688" cy="1024128"/>
          </a:xfrm>
          <a:prstGeom prst="roundRect">
            <a:avLst>
              <a:gd name="adj" fmla="val 8929"/>
            </a:avLst>
          </a:prstGeom>
          <a:solidFill>
            <a:srgbClr val="E9F2EC"/>
          </a:solidFill>
          <a:ln w="12700">
            <a:solidFill>
              <a:srgbClr val="E9F2EC"/>
            </a:solidFill>
            <a:prstDash val="solid"/>
          </a:ln>
        </p:spPr>
      </p:sp>
      <p:sp>
        <p:nvSpPr>
          <p:cNvPr id="47" name="step6-num"/>
          <p:cNvSpPr/>
          <p:nvPr/>
        </p:nvSpPr>
        <p:spPr>
          <a:xfrm>
            <a:off x="603504" y="9162288"/>
            <a:ext cx="457200" cy="457200"/>
          </a:xfrm>
          <a:prstGeom prst="ellipse">
            <a:avLst/>
          </a:prstGeom>
          <a:solidFill>
            <a:schemeClr val="accent5"/>
          </a:solidFill>
          <a:ln w="12700">
            <a:solidFill>
              <a:schemeClr val="accent5"/>
            </a:solidFill>
            <a:prstDash val="solid"/>
          </a:ln>
        </p:spPr>
      </p:sp>
      <p:sp>
        <p:nvSpPr>
          <p:cNvPr id="48" name="step6-num-text"/>
          <p:cNvSpPr txBox="1"/>
          <p:nvPr/>
        </p:nvSpPr>
        <p:spPr>
          <a:xfrm>
            <a:off x="603504" y="916228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bg1"/>
                </a:solidFill>
              </a:rPr>
              <a:t>6</a:t>
            </a:r>
            <a:endParaRPr lang="en-US" sz="1800" dirty="0"/>
          </a:p>
        </p:txBody>
      </p:sp>
      <p:sp>
        <p:nvSpPr>
          <p:cNvPr id="49" name="step6-title"/>
          <p:cNvSpPr txBox="1"/>
          <p:nvPr/>
        </p:nvSpPr>
        <p:spPr>
          <a:xfrm>
            <a:off x="1188720" y="9162288"/>
            <a:ext cx="3017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ja-JP" altLang="en-US" sz="1600" b="1" dirty="0">
                <a:solidFill>
                  <a:schemeClr val="tx1"/>
                </a:solidFill>
              </a:rPr>
              <a:t>完了</a:t>
            </a:r>
            <a:endParaRPr lang="ja-JP" sz="1600" dirty="0"/>
          </a:p>
        </p:txBody>
      </p:sp>
      <p:sp>
        <p:nvSpPr>
          <p:cNvPr id="50" name="step6-body"/>
          <p:cNvSpPr txBox="1"/>
          <p:nvPr/>
        </p:nvSpPr>
        <p:spPr>
          <a:xfrm>
            <a:off x="1188720" y="9637776"/>
            <a:ext cx="30175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300"/>
              </a:spcAft>
              <a:buSzPct val="100000"/>
              <a:buChar char="•"/>
            </a:pPr>
            <a:r>
              <a:rPr lang="ja-JP" altLang="en-US" sz="1150" dirty="0">
                <a:solidFill>
                  <a:schemeClr val="tx1"/>
                </a:solidFill>
              </a:rPr>
              <a:t>「No.N を送信しました」とベル</a:t>
            </a:r>
            <a:endParaRPr lang="ja-JP" sz="1150" dirty="0"/>
          </a:p>
          <a:p>
            <a:pPr marL="152400" indent="-152400">
              <a:spcAft>
                <a:spcPts val="300"/>
              </a:spcAft>
              <a:buSzPct val="100000"/>
              <a:buChar char="•"/>
            </a:pPr>
            <a:r>
              <a:rPr lang="ja-JP" altLang="en-US" sz="1150" dirty="0">
                <a:solidFill>
                  <a:schemeClr val="tx1"/>
                </a:solidFill>
              </a:rPr>
              <a:t>シールとレシートが出る → 次の注文へ</a:t>
            </a:r>
            <a:endParaRPr lang="ja-JP" sz="1150" dirty="0"/>
          </a:p>
        </p:txBody>
      </p:sp>
      <p:sp>
        <p:nvSpPr>
          <p:cNvPr id="51" name="step6-screen-frame"/>
          <p:cNvSpPr/>
          <p:nvPr/>
        </p:nvSpPr>
        <p:spPr>
          <a:xfrm>
            <a:off x="4270248" y="9200381"/>
            <a:ext cx="2715768" cy="655333"/>
          </a:xfrm>
          <a:prstGeom prst="rect">
            <a:avLst/>
          </a:prstGeom>
          <a:solidFill>
            <a:schemeClr val="bg1"/>
          </a:solidFill>
          <a:ln w="9525">
            <a:solidFill>
              <a:srgbClr val="D6D0CA"/>
            </a:solidFill>
            <a:prstDash val="solid"/>
          </a:ln>
        </p:spPr>
      </p:sp>
      <p:pic>
        <p:nvPicPr>
          <p:cNvPr id="52" name="step6-screen" descr="step6-screen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297680" y="9227813"/>
            <a:ext cx="2660904" cy="600469"/>
          </a:xfrm>
          <a:prstGeom prst="rect">
            <a:avLst/>
          </a:prstGeom>
        </p:spPr>
      </p:pic>
      <p:sp>
        <p:nvSpPr>
          <p:cNvPr id="53" name="Text 44"/>
          <p:cNvSpPr txBox="1"/>
          <p:nvPr/>
        </p:nvSpPr>
        <p:spPr>
          <a:xfrm>
            <a:off x="457200" y="10259568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ja-JP" altLang="en-US" sz="1000" dirty="0">
                <a:solidFill>
                  <a:srgbClr val="8A8079"/>
                </a:solidFill>
              </a:rPr>
              <a:t>困ったときは 2 枚目へ</a:t>
            </a:r>
            <a:endParaRPr lang="ja-JP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6190488" y="10259568"/>
            <a:ext cx="9144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8A8079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</a:t>
            </a:fld>
            <a:endParaRPr lang="en-US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365760"/>
            <a:ext cx="4389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ja-JP" altLang="en-US" sz="2600" b="1" dirty="0">
                <a:solidFill>
                  <a:schemeClr val="tx2"/>
                </a:solidFill>
              </a:rPr>
              <a:t>こんなときは</a:t>
            </a:r>
            <a:endParaRPr lang="ja-JP" sz="2600" dirty="0"/>
          </a:p>
        </p:txBody>
      </p:sp>
      <p:sp>
        <p:nvSpPr>
          <p:cNvPr id="3" name="case1"/>
          <p:cNvSpPr/>
          <p:nvPr/>
        </p:nvSpPr>
        <p:spPr>
          <a:xfrm>
            <a:off x="457200" y="1051560"/>
            <a:ext cx="3223260" cy="2892552"/>
          </a:xfrm>
          <a:prstGeom prst="roundRect">
            <a:avLst>
              <a:gd name="adj" fmla="val 3161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4" name="case1-icon-bg"/>
          <p:cNvSpPr/>
          <p:nvPr/>
        </p:nvSpPr>
        <p:spPr>
          <a:xfrm>
            <a:off x="621792" y="1197864"/>
            <a:ext cx="402336" cy="402336"/>
          </a:xfrm>
          <a:prstGeom prst="ellipse">
            <a:avLst/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pic>
        <p:nvPicPr>
          <p:cNvPr id="5" name="case1-icon" descr="分けて払いたい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94944" y="1271016"/>
            <a:ext cx="256032" cy="256032"/>
          </a:xfrm>
          <a:prstGeom prst="rect">
            <a:avLst/>
          </a:prstGeom>
        </p:spPr>
      </p:pic>
      <p:sp>
        <p:nvSpPr>
          <p:cNvPr id="6" name="case1-title"/>
          <p:cNvSpPr txBox="1"/>
          <p:nvPr/>
        </p:nvSpPr>
        <p:spPr>
          <a:xfrm>
            <a:off x="1133856" y="1197864"/>
            <a:ext cx="24003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ja-JP" altLang="en-US" sz="1500" b="1" dirty="0">
                <a:solidFill>
                  <a:schemeClr val="tx1"/>
                </a:solidFill>
              </a:rPr>
              <a:t>分けて払いたい</a:t>
            </a:r>
            <a:endParaRPr lang="ja-JP" sz="1500" dirty="0"/>
          </a:p>
        </p:txBody>
      </p:sp>
      <p:sp>
        <p:nvSpPr>
          <p:cNvPr id="7" name="case1-screen-frame"/>
          <p:cNvSpPr/>
          <p:nvPr/>
        </p:nvSpPr>
        <p:spPr>
          <a:xfrm>
            <a:off x="1232627" y="1682496"/>
            <a:ext cx="1672406" cy="923544"/>
          </a:xfrm>
          <a:prstGeom prst="rect">
            <a:avLst/>
          </a:prstGeom>
          <a:solidFill>
            <a:schemeClr val="bg1"/>
          </a:solidFill>
          <a:ln w="9525">
            <a:solidFill>
              <a:srgbClr val="D6D0CA"/>
            </a:solidFill>
            <a:prstDash val="solid"/>
          </a:ln>
        </p:spPr>
      </p:sp>
      <p:pic>
        <p:nvPicPr>
          <p:cNvPr id="8" name="case1-screen" descr="case1-screen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60059" y="1709928"/>
            <a:ext cx="1617542" cy="868680"/>
          </a:xfrm>
          <a:prstGeom prst="rect">
            <a:avLst/>
          </a:prstGeom>
        </p:spPr>
      </p:pic>
      <p:sp>
        <p:nvSpPr>
          <p:cNvPr id="9" name="case1-caption"/>
          <p:cNvSpPr txBox="1"/>
          <p:nvPr/>
        </p:nvSpPr>
        <p:spPr>
          <a:xfrm>
            <a:off x="640080" y="2651760"/>
            <a:ext cx="28575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ja-JP" altLang="en-US" sz="950" dirty="0">
                <a:solidFill>
                  <a:srgbClr val="57534E"/>
                </a:solidFill>
              </a:rPr>
              <a:t>お客さんが端末で「割り勘」を選ぶと出る画面</a:t>
            </a:r>
            <a:endParaRPr lang="ja-JP" sz="950" dirty="0"/>
          </a:p>
        </p:txBody>
      </p:sp>
      <p:sp>
        <p:nvSpPr>
          <p:cNvPr id="10" name="case1-steps"/>
          <p:cNvSpPr txBox="1"/>
          <p:nvPr/>
        </p:nvSpPr>
        <p:spPr>
          <a:xfrm>
            <a:off x="640080" y="2926080"/>
            <a:ext cx="2857500" cy="9083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ja-JP" altLang="en-US" sz="1150" dirty="0">
                <a:solidFill>
                  <a:schemeClr val="tx1"/>
                </a:solidFill>
              </a:rPr>
              <a:t>① 商品で分ける →「個別小計」</a:t>
            </a:r>
            <a:endParaRPr lang="ja-JP" sz="1150" dirty="0"/>
          </a:p>
          <a:p>
            <a:pPr indent="0" marL="0">
              <a:spcAft>
                <a:spcPts val="400"/>
              </a:spcAft>
              <a:buNone/>
            </a:pPr>
            <a:r>
              <a:rPr lang="ja-JP" altLang="en-US" sz="1150" dirty="0">
                <a:solidFill>
                  <a:schemeClr val="tx1"/>
                </a:solidFill>
              </a:rPr>
              <a:t>② 金額で分ける →「小計分割・一部金額先払い」</a:t>
            </a:r>
            <a:endParaRPr lang="ja-JP" sz="1150" dirty="0"/>
          </a:p>
          <a:p>
            <a:pPr indent="0" marL="0">
              <a:spcAft>
                <a:spcPts val="400"/>
              </a:spcAft>
              <a:buNone/>
            </a:pPr>
            <a:r>
              <a:rPr lang="ja-JP" altLang="en-US" sz="1150" dirty="0">
                <a:solidFill>
                  <a:schemeClr val="tx1"/>
                </a:solidFill>
              </a:rPr>
              <a:t>③ 最後は「会計しました」で </a:t>
            </a:r>
            <a:r>
              <a:rPr lang="ja-JP" altLang="en-US" sz="1150" b="1" dirty="0">
                <a:solidFill>
                  <a:schemeClr val="tx1"/>
                </a:solidFill>
                <a:highlight>
                  <a:srgbClr val="E7E5E4"/>
                </a:highlight>
              </a:rPr>
              <a:t> Enter </a:t>
            </a:r>
            <a:endParaRPr lang="ja-JP" sz="1150" dirty="0"/>
          </a:p>
        </p:txBody>
      </p:sp>
      <p:sp>
        <p:nvSpPr>
          <p:cNvPr id="11" name="case2"/>
          <p:cNvSpPr/>
          <p:nvPr/>
        </p:nvSpPr>
        <p:spPr>
          <a:xfrm>
            <a:off x="3881628" y="1051560"/>
            <a:ext cx="3223260" cy="2892552"/>
          </a:xfrm>
          <a:prstGeom prst="roundRect">
            <a:avLst>
              <a:gd name="adj" fmla="val 3161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2" name="case2-icon-bg"/>
          <p:cNvSpPr/>
          <p:nvPr/>
        </p:nvSpPr>
        <p:spPr>
          <a:xfrm>
            <a:off x="4046220" y="1197864"/>
            <a:ext cx="402336" cy="402336"/>
          </a:xfrm>
          <a:prstGeom prst="ellipse">
            <a:avLst/>
          </a:prstGeom>
          <a:solidFill>
            <a:schemeClr val="accent6"/>
          </a:solidFill>
          <a:ln w="12700">
            <a:solidFill>
              <a:schemeClr val="accent6"/>
            </a:solidFill>
            <a:prstDash val="solid"/>
          </a:ln>
        </p:spPr>
      </p:sp>
      <p:pic>
        <p:nvPicPr>
          <p:cNvPr id="13" name="case2-icon" descr="決済できなかった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19372" y="1271016"/>
            <a:ext cx="256032" cy="256032"/>
          </a:xfrm>
          <a:prstGeom prst="rect">
            <a:avLst/>
          </a:prstGeom>
        </p:spPr>
      </p:pic>
      <p:sp>
        <p:nvSpPr>
          <p:cNvPr id="14" name="case2-title"/>
          <p:cNvSpPr txBox="1"/>
          <p:nvPr/>
        </p:nvSpPr>
        <p:spPr>
          <a:xfrm>
            <a:off x="4558284" y="1197864"/>
            <a:ext cx="24003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ja-JP" altLang="en-US" sz="1500" b="1" dirty="0">
                <a:solidFill>
                  <a:schemeClr val="tx1"/>
                </a:solidFill>
              </a:rPr>
              <a:t>決済できなかった</a:t>
            </a:r>
            <a:endParaRPr lang="ja-JP" sz="1500" dirty="0"/>
          </a:p>
        </p:txBody>
      </p:sp>
      <p:sp>
        <p:nvSpPr>
          <p:cNvPr id="15" name="case2-screen-frame"/>
          <p:cNvSpPr/>
          <p:nvPr/>
        </p:nvSpPr>
        <p:spPr>
          <a:xfrm>
            <a:off x="4387788" y="1682496"/>
            <a:ext cx="2210940" cy="923544"/>
          </a:xfrm>
          <a:prstGeom prst="rect">
            <a:avLst/>
          </a:prstGeom>
          <a:solidFill>
            <a:schemeClr val="bg1"/>
          </a:solidFill>
          <a:ln w="9525">
            <a:solidFill>
              <a:srgbClr val="D6D0CA"/>
            </a:solidFill>
            <a:prstDash val="solid"/>
          </a:ln>
        </p:spPr>
      </p:sp>
      <p:pic>
        <p:nvPicPr>
          <p:cNvPr id="16" name="case2-screen" descr="case2-screen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415220" y="1709928"/>
            <a:ext cx="2156076" cy="868680"/>
          </a:xfrm>
          <a:prstGeom prst="rect">
            <a:avLst/>
          </a:prstGeom>
        </p:spPr>
      </p:pic>
      <p:sp>
        <p:nvSpPr>
          <p:cNvPr id="17" name="case2-steps"/>
          <p:cNvSpPr txBox="1"/>
          <p:nvPr/>
        </p:nvSpPr>
        <p:spPr>
          <a:xfrm>
            <a:off x="4064508" y="2743200"/>
            <a:ext cx="2857500" cy="1091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ja-JP" altLang="en-US" sz="1150" dirty="0">
                <a:solidFill>
                  <a:schemeClr val="tx1"/>
                </a:solidFill>
              </a:rPr>
              <a:t>① お金は</a:t>
            </a:r>
            <a:r>
              <a:rPr lang="ja-JP" altLang="en-US" sz="1150" b="1" dirty="0">
                <a:solidFill>
                  <a:schemeClr val="tx1"/>
                </a:solidFill>
              </a:rPr>
              <a:t>受け取っていない</a:t>
            </a:r>
            <a:endParaRPr lang="ja-JP" sz="1150" dirty="0"/>
          </a:p>
          <a:p>
            <a:pPr indent="0" marL="0">
              <a:spcAft>
                <a:spcPts val="400"/>
              </a:spcAft>
              <a:buNone/>
            </a:pPr>
            <a:r>
              <a:rPr lang="ja-JP" altLang="en-US" sz="1150" dirty="0">
                <a:solidFill>
                  <a:schemeClr val="tx1"/>
                </a:solidFill>
              </a:rPr>
              <a:t>② 「もう一度送る」か「閉じる」→ 現金</a:t>
            </a:r>
            <a:endParaRPr lang="ja-JP" sz="1150" dirty="0"/>
          </a:p>
          <a:p>
            <a:pPr indent="0" marL="0">
              <a:spcAft>
                <a:spcPts val="400"/>
              </a:spcAft>
              <a:buNone/>
            </a:pPr>
            <a:r>
              <a:rPr lang="ja-JP" altLang="en-US" sz="1150" dirty="0">
                <a:solidFill>
                  <a:schemeClr val="tx1"/>
                </a:solidFill>
              </a:rPr>
              <a:t>③ 残高不足は「一部金額を先払い」</a:t>
            </a:r>
            <a:endParaRPr lang="ja-JP" sz="1150" dirty="0"/>
          </a:p>
        </p:txBody>
      </p:sp>
      <p:sp>
        <p:nvSpPr>
          <p:cNvPr id="18" name="case3"/>
          <p:cNvSpPr/>
          <p:nvPr/>
        </p:nvSpPr>
        <p:spPr>
          <a:xfrm>
            <a:off x="457200" y="4145280"/>
            <a:ext cx="3223260" cy="2892552"/>
          </a:xfrm>
          <a:prstGeom prst="roundRect">
            <a:avLst>
              <a:gd name="adj" fmla="val 3161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9" name="case3-icon-bg"/>
          <p:cNvSpPr/>
          <p:nvPr/>
        </p:nvSpPr>
        <p:spPr>
          <a:xfrm>
            <a:off x="621792" y="4291584"/>
            <a:ext cx="402336" cy="402336"/>
          </a:xfrm>
          <a:prstGeom prst="ellipse">
            <a:avLst/>
          </a:prstGeom>
          <a:solidFill>
            <a:schemeClr val="accent6"/>
          </a:solidFill>
          <a:ln w="12700">
            <a:solidFill>
              <a:schemeClr val="accent6"/>
            </a:solidFill>
            <a:prstDash val="solid"/>
          </a:ln>
        </p:spPr>
      </p:sp>
      <p:pic>
        <p:nvPicPr>
          <p:cNvPr id="20" name="case3-icon" descr="払ったのに送れない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94944" y="4364736"/>
            <a:ext cx="256032" cy="256032"/>
          </a:xfrm>
          <a:prstGeom prst="rect">
            <a:avLst/>
          </a:prstGeom>
        </p:spPr>
      </p:pic>
      <p:sp>
        <p:nvSpPr>
          <p:cNvPr id="21" name="case3-title"/>
          <p:cNvSpPr txBox="1"/>
          <p:nvPr/>
        </p:nvSpPr>
        <p:spPr>
          <a:xfrm>
            <a:off x="1133856" y="4291584"/>
            <a:ext cx="24003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ja-JP" altLang="en-US" sz="1500" b="1" dirty="0">
                <a:solidFill>
                  <a:schemeClr val="tx1"/>
                </a:solidFill>
              </a:rPr>
              <a:t>払ったのに送れない</a:t>
            </a:r>
            <a:endParaRPr lang="ja-JP" sz="1500" dirty="0"/>
          </a:p>
        </p:txBody>
      </p:sp>
      <p:sp>
        <p:nvSpPr>
          <p:cNvPr id="22" name="case3-screen-frame"/>
          <p:cNvSpPr/>
          <p:nvPr/>
        </p:nvSpPr>
        <p:spPr>
          <a:xfrm>
            <a:off x="612648" y="4811835"/>
            <a:ext cx="2912364" cy="852306"/>
          </a:xfrm>
          <a:prstGeom prst="rect">
            <a:avLst/>
          </a:prstGeom>
          <a:solidFill>
            <a:schemeClr val="bg1"/>
          </a:solidFill>
          <a:ln w="9525">
            <a:solidFill>
              <a:srgbClr val="D6D0CA"/>
            </a:solidFill>
            <a:prstDash val="solid"/>
          </a:ln>
        </p:spPr>
      </p:sp>
      <p:pic>
        <p:nvPicPr>
          <p:cNvPr id="23" name="case3-screen" descr="case3-screen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40080" y="4839267"/>
            <a:ext cx="2857500" cy="797442"/>
          </a:xfrm>
          <a:prstGeom prst="rect">
            <a:avLst/>
          </a:prstGeom>
        </p:spPr>
      </p:pic>
      <p:sp>
        <p:nvSpPr>
          <p:cNvPr id="24" name="case3-caption"/>
          <p:cNvSpPr txBox="1"/>
          <p:nvPr/>
        </p:nvSpPr>
        <p:spPr>
          <a:xfrm>
            <a:off x="640080" y="5745480"/>
            <a:ext cx="28575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ja-JP" altLang="en-US" sz="950" dirty="0">
                <a:solidFill>
                  <a:srgbClr val="57534E"/>
                </a:solidFill>
              </a:rPr>
              <a:t>レジの右上に出るボタン</a:t>
            </a:r>
            <a:endParaRPr lang="ja-JP" sz="950" dirty="0"/>
          </a:p>
        </p:txBody>
      </p:sp>
      <p:sp>
        <p:nvSpPr>
          <p:cNvPr id="25" name="case3-steps"/>
          <p:cNvSpPr txBox="1"/>
          <p:nvPr/>
        </p:nvSpPr>
        <p:spPr>
          <a:xfrm>
            <a:off x="640080" y="6019800"/>
            <a:ext cx="2857500" cy="9083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ja-JP" altLang="en-US" sz="1150" dirty="0">
                <a:solidFill>
                  <a:schemeClr val="tx1"/>
                </a:solidFill>
              </a:rPr>
              <a:t>① 「お金は受け取っています」→ </a:t>
            </a:r>
            <a:r>
              <a:rPr lang="ja-JP" altLang="en-US" sz="1150" b="1" dirty="0">
                <a:solidFill>
                  <a:schemeClr val="tx1"/>
                </a:solidFill>
              </a:rPr>
              <a:t>現金で取り直さない</a:t>
            </a:r>
            <a:endParaRPr lang="ja-JP" sz="1150" dirty="0"/>
          </a:p>
          <a:p>
            <a:pPr indent="0" marL="0">
              <a:spcAft>
                <a:spcPts val="400"/>
              </a:spcAft>
              <a:buNone/>
            </a:pPr>
            <a:r>
              <a:rPr lang="ja-JP" altLang="en-US" sz="1150" dirty="0">
                <a:solidFill>
                  <a:schemeClr val="tx1"/>
                </a:solidFill>
              </a:rPr>
              <a:t>② 「注文を送信」を押す</a:t>
            </a:r>
            <a:endParaRPr lang="ja-JP" sz="1150" dirty="0"/>
          </a:p>
          <a:p>
            <a:pPr indent="0" marL="0">
              <a:spcAft>
                <a:spcPts val="400"/>
              </a:spcAft>
              <a:buNone/>
            </a:pPr>
            <a:r>
              <a:rPr lang="ja-JP" altLang="en-US" sz="1150" dirty="0">
                <a:solidFill>
                  <a:schemeClr val="tx1"/>
                </a:solidFill>
              </a:rPr>
              <a:t>③ だめなら右上のこのボタンから登録</a:t>
            </a:r>
            <a:endParaRPr lang="ja-JP" sz="1150" dirty="0"/>
          </a:p>
        </p:txBody>
      </p:sp>
      <p:sp>
        <p:nvSpPr>
          <p:cNvPr id="26" name="case4"/>
          <p:cNvSpPr/>
          <p:nvPr/>
        </p:nvSpPr>
        <p:spPr>
          <a:xfrm>
            <a:off x="3881628" y="4145280"/>
            <a:ext cx="3223260" cy="2892552"/>
          </a:xfrm>
          <a:prstGeom prst="roundRect">
            <a:avLst>
              <a:gd name="adj" fmla="val 3161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27" name="case4-icon-bg"/>
          <p:cNvSpPr/>
          <p:nvPr/>
        </p:nvSpPr>
        <p:spPr>
          <a:xfrm>
            <a:off x="4046220" y="4291584"/>
            <a:ext cx="402336" cy="402336"/>
          </a:xfrm>
          <a:prstGeom prst="ellipse">
            <a:avLst/>
          </a:prstGeom>
          <a:solidFill>
            <a:srgbClr val="57534E"/>
          </a:solidFill>
          <a:ln w="12700">
            <a:solidFill>
              <a:srgbClr val="57534E"/>
            </a:solidFill>
            <a:prstDash val="solid"/>
          </a:ln>
        </p:spPr>
      </p:sp>
      <p:pic>
        <p:nvPicPr>
          <p:cNvPr id="28" name="case4-icon" descr="送ったあとに取り消す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119372" y="4364736"/>
            <a:ext cx="256032" cy="256032"/>
          </a:xfrm>
          <a:prstGeom prst="rect">
            <a:avLst/>
          </a:prstGeom>
        </p:spPr>
      </p:pic>
      <p:sp>
        <p:nvSpPr>
          <p:cNvPr id="29" name="case4-title"/>
          <p:cNvSpPr txBox="1"/>
          <p:nvPr/>
        </p:nvSpPr>
        <p:spPr>
          <a:xfrm>
            <a:off x="4558284" y="4291584"/>
            <a:ext cx="24003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ja-JP" altLang="en-US" sz="1500" b="1" dirty="0">
                <a:solidFill>
                  <a:schemeClr val="tx1"/>
                </a:solidFill>
              </a:rPr>
              <a:t>送ったあとに取り消す</a:t>
            </a:r>
            <a:endParaRPr lang="ja-JP" sz="1500" dirty="0"/>
          </a:p>
        </p:txBody>
      </p:sp>
      <p:sp>
        <p:nvSpPr>
          <p:cNvPr id="30" name="case4-screen-frame"/>
          <p:cNvSpPr/>
          <p:nvPr/>
        </p:nvSpPr>
        <p:spPr>
          <a:xfrm>
            <a:off x="4037076" y="5013857"/>
            <a:ext cx="2912364" cy="448262"/>
          </a:xfrm>
          <a:prstGeom prst="rect">
            <a:avLst/>
          </a:prstGeom>
          <a:solidFill>
            <a:schemeClr val="bg1"/>
          </a:solidFill>
          <a:ln w="9525">
            <a:solidFill>
              <a:srgbClr val="D6D0CA"/>
            </a:solidFill>
            <a:prstDash val="solid"/>
          </a:ln>
        </p:spPr>
      </p:sp>
      <p:pic>
        <p:nvPicPr>
          <p:cNvPr id="31" name="case4-screen" descr="case4-screen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064508" y="5041289"/>
            <a:ext cx="2857500" cy="393398"/>
          </a:xfrm>
          <a:prstGeom prst="rect">
            <a:avLst/>
          </a:prstGeom>
        </p:spPr>
      </p:pic>
      <p:sp>
        <p:nvSpPr>
          <p:cNvPr id="32" name="case4-caption"/>
          <p:cNvSpPr txBox="1"/>
          <p:nvPr/>
        </p:nvSpPr>
        <p:spPr>
          <a:xfrm>
            <a:off x="4064508" y="5745480"/>
            <a:ext cx="28575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ja-JP" altLang="en-US" sz="950" dirty="0">
                <a:solidFill>
                  <a:srgbClr val="57534E"/>
                </a:solidFill>
              </a:rPr>
              <a:t>「過去の注文」の下のボタン</a:t>
            </a:r>
            <a:endParaRPr lang="ja-JP" sz="950" dirty="0"/>
          </a:p>
        </p:txBody>
      </p:sp>
      <p:sp>
        <p:nvSpPr>
          <p:cNvPr id="33" name="case4-steps"/>
          <p:cNvSpPr txBox="1"/>
          <p:nvPr/>
        </p:nvSpPr>
        <p:spPr>
          <a:xfrm>
            <a:off x="4064508" y="6019800"/>
            <a:ext cx="2857500" cy="9083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ja-JP" altLang="en-US" sz="1150" dirty="0">
                <a:solidFill>
                  <a:schemeClr val="tx1"/>
                </a:solidFill>
              </a:rPr>
              <a:t>① 「過去の注文」→ 番号で探す</a:t>
            </a:r>
            <a:endParaRPr lang="ja-JP" sz="1150" dirty="0"/>
          </a:p>
          <a:p>
            <a:pPr indent="0" marL="0">
              <a:spcAft>
                <a:spcPts val="400"/>
              </a:spcAft>
              <a:buNone/>
            </a:pPr>
            <a:r>
              <a:rPr lang="ja-JP" altLang="en-US" sz="1150" dirty="0">
                <a:solidFill>
                  <a:schemeClr val="tx1"/>
                </a:solidFill>
              </a:rPr>
              <a:t>② 返すなら「返金＆キャンセル」、返さないなら「キャンセル」</a:t>
            </a:r>
            <a:endParaRPr lang="ja-JP" sz="1150" dirty="0"/>
          </a:p>
          <a:p>
            <a:pPr indent="0" marL="0">
              <a:spcAft>
                <a:spcPts val="400"/>
              </a:spcAft>
              <a:buNone/>
            </a:pPr>
            <a:r>
              <a:rPr lang="ja-JP" altLang="en-US" sz="1150" dirty="0">
                <a:solidFill>
                  <a:schemeClr val="tx1"/>
                </a:solidFill>
              </a:rPr>
              <a:t>③ 現金は手で返す</a:t>
            </a:r>
            <a:endParaRPr lang="ja-JP" sz="1150" dirty="0"/>
          </a:p>
        </p:txBody>
      </p:sp>
      <p:sp>
        <p:nvSpPr>
          <p:cNvPr id="34" name="case5"/>
          <p:cNvSpPr/>
          <p:nvPr/>
        </p:nvSpPr>
        <p:spPr>
          <a:xfrm>
            <a:off x="457200" y="7239000"/>
            <a:ext cx="3223260" cy="2892552"/>
          </a:xfrm>
          <a:prstGeom prst="roundRect">
            <a:avLst>
              <a:gd name="adj" fmla="val 3161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35" name="case5-icon-bg"/>
          <p:cNvSpPr/>
          <p:nvPr/>
        </p:nvSpPr>
        <p:spPr>
          <a:xfrm>
            <a:off x="621792" y="7385304"/>
            <a:ext cx="402336" cy="402336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pic>
        <p:nvPicPr>
          <p:cNvPr id="36" name="case5-icon" descr="オフライン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94944" y="7458456"/>
            <a:ext cx="256032" cy="256032"/>
          </a:xfrm>
          <a:prstGeom prst="rect">
            <a:avLst/>
          </a:prstGeom>
        </p:spPr>
      </p:pic>
      <p:sp>
        <p:nvSpPr>
          <p:cNvPr id="37" name="case5-title"/>
          <p:cNvSpPr txBox="1"/>
          <p:nvPr/>
        </p:nvSpPr>
        <p:spPr>
          <a:xfrm>
            <a:off x="1133856" y="7385304"/>
            <a:ext cx="24003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ja-JP" altLang="en-US" sz="1500" b="1" dirty="0">
                <a:solidFill>
                  <a:schemeClr val="tx1"/>
                </a:solidFill>
              </a:rPr>
              <a:t>オフライン</a:t>
            </a:r>
            <a:endParaRPr lang="ja-JP" sz="1500" dirty="0"/>
          </a:p>
        </p:txBody>
      </p:sp>
      <p:sp>
        <p:nvSpPr>
          <p:cNvPr id="38" name="case5-screen-frame"/>
          <p:cNvSpPr/>
          <p:nvPr/>
        </p:nvSpPr>
        <p:spPr>
          <a:xfrm>
            <a:off x="612648" y="7875651"/>
            <a:ext cx="2912364" cy="912114"/>
          </a:xfrm>
          <a:prstGeom prst="rect">
            <a:avLst/>
          </a:prstGeom>
          <a:solidFill>
            <a:schemeClr val="bg1"/>
          </a:solidFill>
          <a:ln w="9525">
            <a:solidFill>
              <a:srgbClr val="D6D0CA"/>
            </a:solidFill>
            <a:prstDash val="solid"/>
          </a:ln>
        </p:spPr>
      </p:sp>
      <p:pic>
        <p:nvPicPr>
          <p:cNvPr id="39" name="case5-screen" descr="case5-screen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640080" y="7903083"/>
            <a:ext cx="2857500" cy="857250"/>
          </a:xfrm>
          <a:prstGeom prst="rect">
            <a:avLst/>
          </a:prstGeom>
        </p:spPr>
      </p:pic>
      <p:sp>
        <p:nvSpPr>
          <p:cNvPr id="40" name="case5-caption"/>
          <p:cNvSpPr txBox="1"/>
          <p:nvPr/>
        </p:nvSpPr>
        <p:spPr>
          <a:xfrm>
            <a:off x="640080" y="8839200"/>
            <a:ext cx="28575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ja-JP" altLang="en-US" sz="950" dirty="0">
                <a:solidFill>
                  <a:srgbClr val="57534E"/>
                </a:solidFill>
              </a:rPr>
              <a:t>上の帯が赤・番号の横に「オフライン」</a:t>
            </a:r>
            <a:endParaRPr lang="ja-JP" sz="950" dirty="0"/>
          </a:p>
        </p:txBody>
      </p:sp>
      <p:sp>
        <p:nvSpPr>
          <p:cNvPr id="41" name="case5-steps"/>
          <p:cNvSpPr txBox="1"/>
          <p:nvPr/>
        </p:nvSpPr>
        <p:spPr>
          <a:xfrm>
            <a:off x="640080" y="9113520"/>
            <a:ext cx="2857500" cy="9083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ja-JP" altLang="en-US" sz="1150" dirty="0">
                <a:solidFill>
                  <a:schemeClr val="tx1"/>
                </a:solidFill>
              </a:rPr>
              <a:t>① 「No.」を押して番号を付ける</a:t>
            </a:r>
            <a:endParaRPr lang="ja-JP" sz="1150" dirty="0"/>
          </a:p>
          <a:p>
            <a:pPr indent="0" marL="0">
              <a:spcAft>
                <a:spcPts val="400"/>
              </a:spcAft>
              <a:buNone/>
            </a:pPr>
            <a:r>
              <a:rPr lang="ja-JP" altLang="en-US" sz="1150" dirty="0">
                <a:solidFill>
                  <a:schemeClr val="tx1"/>
                </a:solidFill>
              </a:rPr>
              <a:t>② 現金で確定（Square は使えない）</a:t>
            </a:r>
            <a:endParaRPr lang="ja-JP" sz="1150" dirty="0"/>
          </a:p>
          <a:p>
            <a:pPr indent="0" marL="0">
              <a:spcAft>
                <a:spcPts val="400"/>
              </a:spcAft>
              <a:buNone/>
            </a:pPr>
            <a:r>
              <a:rPr lang="ja-JP" altLang="en-US" sz="1150" dirty="0">
                <a:solidFill>
                  <a:schemeClr val="tx1"/>
                </a:solidFill>
              </a:rPr>
              <a:t>③ つながると自動で送られ、番号も自動に戻る</a:t>
            </a:r>
            <a:endParaRPr lang="ja-JP" sz="1150" dirty="0"/>
          </a:p>
        </p:txBody>
      </p:sp>
      <p:sp>
        <p:nvSpPr>
          <p:cNvPr id="42" name="case6"/>
          <p:cNvSpPr/>
          <p:nvPr/>
        </p:nvSpPr>
        <p:spPr>
          <a:xfrm>
            <a:off x="3881628" y="7239000"/>
            <a:ext cx="3223260" cy="2892552"/>
          </a:xfrm>
          <a:prstGeom prst="roundRect">
            <a:avLst>
              <a:gd name="adj" fmla="val 3161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43" name="case6-icon-bg"/>
          <p:cNvSpPr/>
          <p:nvPr/>
        </p:nvSpPr>
        <p:spPr>
          <a:xfrm>
            <a:off x="4046220" y="7385304"/>
            <a:ext cx="402336" cy="402336"/>
          </a:xfrm>
          <a:prstGeom prst="ellipse">
            <a:avLst/>
          </a:prstGeom>
          <a:solidFill>
            <a:schemeClr val="accent4"/>
          </a:solidFill>
          <a:ln w="12700">
            <a:solidFill>
              <a:schemeClr val="accent4"/>
            </a:solidFill>
            <a:prstDash val="solid"/>
          </a:ln>
        </p:spPr>
      </p:sp>
      <p:pic>
        <p:nvPicPr>
          <p:cNvPr id="44" name="case6-icon" descr="印刷されない">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4119372" y="7458456"/>
            <a:ext cx="256032" cy="256032"/>
          </a:xfrm>
          <a:prstGeom prst="rect">
            <a:avLst/>
          </a:prstGeom>
        </p:spPr>
      </p:pic>
      <p:sp>
        <p:nvSpPr>
          <p:cNvPr id="45" name="case6-title"/>
          <p:cNvSpPr txBox="1"/>
          <p:nvPr/>
        </p:nvSpPr>
        <p:spPr>
          <a:xfrm>
            <a:off x="4558284" y="7385304"/>
            <a:ext cx="24003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ja-JP" altLang="en-US" sz="1500" b="1" dirty="0">
                <a:solidFill>
                  <a:schemeClr val="tx1"/>
                </a:solidFill>
              </a:rPr>
              <a:t>印刷されない</a:t>
            </a:r>
            <a:endParaRPr lang="ja-JP" sz="1500" dirty="0"/>
          </a:p>
        </p:txBody>
      </p:sp>
      <p:sp>
        <p:nvSpPr>
          <p:cNvPr id="46" name="case6-screen-frame"/>
          <p:cNvSpPr/>
          <p:nvPr/>
        </p:nvSpPr>
        <p:spPr>
          <a:xfrm>
            <a:off x="4037076" y="8119463"/>
            <a:ext cx="2912364" cy="424491"/>
          </a:xfrm>
          <a:prstGeom prst="rect">
            <a:avLst/>
          </a:prstGeom>
          <a:solidFill>
            <a:schemeClr val="bg1"/>
          </a:solidFill>
          <a:ln w="9525">
            <a:solidFill>
              <a:srgbClr val="D6D0CA"/>
            </a:solidFill>
            <a:prstDash val="solid"/>
          </a:ln>
        </p:spPr>
      </p:sp>
      <p:pic>
        <p:nvPicPr>
          <p:cNvPr id="47" name="case6-screen" descr="case6-screen">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4064508" y="8146895"/>
            <a:ext cx="2857500" cy="369627"/>
          </a:xfrm>
          <a:prstGeom prst="rect">
            <a:avLst/>
          </a:prstGeom>
        </p:spPr>
      </p:pic>
      <p:sp>
        <p:nvSpPr>
          <p:cNvPr id="48" name="case6-steps"/>
          <p:cNvSpPr txBox="1"/>
          <p:nvPr/>
        </p:nvSpPr>
        <p:spPr>
          <a:xfrm>
            <a:off x="4064508" y="8930640"/>
            <a:ext cx="2857500" cy="1091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ja-JP" altLang="en-US" sz="1150" dirty="0">
                <a:solidFill>
                  <a:schemeClr val="tx1"/>
                </a:solidFill>
              </a:rPr>
              <a:t>① 電源・紙・カバーを確かめる</a:t>
            </a:r>
            <a:endParaRPr lang="ja-JP" sz="1150" dirty="0"/>
          </a:p>
          <a:p>
            <a:pPr indent="0" marL="0">
              <a:spcAft>
                <a:spcPts val="400"/>
              </a:spcAft>
              <a:buNone/>
            </a:pPr>
            <a:r>
              <a:rPr lang="ja-JP" altLang="en-US" sz="1150" dirty="0">
                <a:solidFill>
                  <a:schemeClr val="tx1"/>
                </a:solidFill>
              </a:rPr>
              <a:t>② 「もう一度刷る」を押す</a:t>
            </a:r>
            <a:endParaRPr lang="ja-JP" sz="1150" dirty="0"/>
          </a:p>
          <a:p>
            <a:pPr indent="0" marL="0">
              <a:spcAft>
                <a:spcPts val="400"/>
              </a:spcAft>
              <a:buNone/>
            </a:pPr>
            <a:r>
              <a:rPr lang="ja-JP" altLang="en-US" sz="1150" dirty="0">
                <a:solidFill>
                  <a:schemeClr val="tx1"/>
                </a:solidFill>
              </a:rPr>
              <a:t>③ 直らなければ責任者に連絡</a:t>
            </a:r>
            <a:endParaRPr lang="ja-JP" sz="1150" dirty="0"/>
          </a:p>
        </p:txBody>
      </p:sp>
      <p:sp>
        <p:nvSpPr>
          <p:cNvPr id="49" name="Text 35"/>
          <p:cNvSpPr txBox="1"/>
          <p:nvPr/>
        </p:nvSpPr>
        <p:spPr>
          <a:xfrm>
            <a:off x="457200" y="10259568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ja-JP" altLang="en-US" sz="1000" dirty="0">
                <a:solidFill>
                  <a:srgbClr val="8A8079"/>
                </a:solidFill>
              </a:rPr>
              <a:t>くわしくは「レジ操作マニュアル」</a:t>
            </a:r>
            <a:endParaRPr lang="ja-JP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6190488" y="10259568"/>
            <a:ext cx="9144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8A8079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Cafeore POS">
  <a:themeElements>
    <a:clrScheme name="Cafeore POS">
      <a:dk1>
        <a:srgbClr val="1C1917"/>
      </a:dk1>
      <a:lt1>
        <a:srgbClr val="FFFFFF"/>
      </a:lt1>
      <a:dk2>
        <a:srgbClr val="834F2F"/>
      </a:dk2>
      <a:lt2>
        <a:srgbClr val="F4F1EE"/>
      </a:lt2>
      <a:accent1>
        <a:srgbClr val="2C5B7F"/>
      </a:accent1>
      <a:accent2>
        <a:srgbClr val="C2531F"/>
      </a:accent2>
      <a:accent3>
        <a:srgbClr val="9B5C73"/>
      </a:accent3>
      <a:accent4>
        <a:srgbClr val="B09860"/>
      </a:accent4>
      <a:accent5>
        <a:srgbClr val="15803D"/>
      </a:accent5>
      <a:accent6>
        <a:srgbClr val="B91C1C"/>
      </a:accent6>
      <a:hlink>
        <a:srgbClr val="2C5B7F"/>
      </a:hlink>
      <a:folHlink>
        <a:srgbClr val="6E3B4F"/>
      </a:folHlink>
    </a:clrScheme>
    <a:fontScheme name="Cafeore POS">
      <a:majorFont>
        <a:latin typeface="Yu Gothic"/>
        <a:ea typeface="Yu Gothic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Yu Gothic"/>
        <a:ea typeface="Yu Gothic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5" baseType="lpstr">
      <vt:lpstr>Arial</vt:lpstr>
      <vt:lpstr>Calibri</vt:lpstr>
      <vt:lpstr>Office Theme</vt:lpstr>
      <vt:lpstr>Slide 1</vt:lpstr>
      <vt:lpstr>Slide 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注文を受ける流れ（レジ）</dc:title>
  <dc:subject>PptxGenJS Presentation</dc:subject>
  <dc:creator>PptxGenJS</dc:creator>
  <cp:lastModifiedBy>PptxGenJS</cp:lastModifiedBy>
  <cp:revision>1</cp:revision>
  <dcterms:created xsi:type="dcterms:W3CDTF">2026-10-17T20:51:58Z</dcterms:created>
  <dcterms:modified xsi:type="dcterms:W3CDTF">2026-10-17T20:51:58Z</dcterms:modified>
</cp:coreProperties>
</file>