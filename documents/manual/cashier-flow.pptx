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EE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749808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ja-JP" alt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ja-JP" sz="2800" dirty="0"/>
          </a:p>
        </p:txBody>
      </p:sp>
      <p:sp>
        <p:nvSpPr>
          <p:cNvPr id="3" name="Text 0"/>
          <p:cNvSpPr txBox="1"/>
          <p:nvPr/>
        </p:nvSpPr>
        <p:spPr>
          <a:xfrm>
            <a:off x="6574536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100" dirty="0">
                <a:solidFill>
                  <a:srgbClr val="8A8079"/>
                </a:solidFill>
              </a:rPr>
              <a:t>珈琲・俺POS　レジ係向け早見表</a:t>
            </a:r>
            <a:endParaRPr lang="ja-JP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317736" y="717804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07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317736" y="717804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07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2800" b="1" dirty="0">
                <a:solidFill>
                  <a:schemeClr val="tx2"/>
                </a:solidFill>
              </a:rPr>
              <a:t>注文を受ける流れ</a:t>
            </a:r>
            <a:endParaRPr lang="ja-JP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200" dirty="0">
                <a:solidFill>
                  <a:srgbClr val="57534E"/>
                </a:solidFill>
              </a:rPr>
              <a:t>キーボードだけで最後まで打てます。</a:t>
            </a:r>
            <a:r>
              <a:rPr lang="ja-JP" altLang="en-US" sz="1200" b="1" dirty="0">
                <a:solidFill>
                  <a:srgbClr val="57534E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Enter </a:t>
            </a:r>
            <a:r>
              <a:rPr lang="ja-JP" altLang="en-US" sz="1200" dirty="0">
                <a:solidFill>
                  <a:srgbClr val="57534E"/>
                </a:solidFill>
              </a:rPr>
              <a:t> などはキーの名前です。</a:t>
            </a:r>
            <a:endParaRPr lang="ja-JP" sz="1200" dirty="0"/>
          </a:p>
        </p:txBody>
      </p:sp>
      <p:sp>
        <p:nvSpPr>
          <p:cNvPr id="4" name="step1"/>
          <p:cNvSpPr/>
          <p:nvPr/>
        </p:nvSpPr>
        <p:spPr>
          <a:xfrm>
            <a:off x="457200" y="1298448"/>
            <a:ext cx="292303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ep1-num"/>
          <p:cNvSpPr/>
          <p:nvPr/>
        </p:nvSpPr>
        <p:spPr>
          <a:xfrm>
            <a:off x="640080" y="1481328"/>
            <a:ext cx="420624" cy="42062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step1-num-text"/>
          <p:cNvSpPr txBox="1"/>
          <p:nvPr/>
        </p:nvSpPr>
        <p:spPr>
          <a:xfrm>
            <a:off x="64008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step1-title"/>
          <p:cNvSpPr txBox="1"/>
          <p:nvPr/>
        </p:nvSpPr>
        <p:spPr>
          <a:xfrm>
            <a:off x="1170432" y="1481328"/>
            <a:ext cx="2054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</a:rPr>
              <a:t>商品を入れる</a:t>
            </a:r>
            <a:endParaRPr lang="ja-JP" sz="1700" dirty="0"/>
          </a:p>
        </p:txBody>
      </p:sp>
      <p:sp>
        <p:nvSpPr>
          <p:cNvPr id="8" name="step1-body"/>
          <p:cNvSpPr txBox="1"/>
          <p:nvPr/>
        </p:nvSpPr>
        <p:spPr>
          <a:xfrm>
            <a:off x="640080" y="2029968"/>
            <a:ext cx="255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商品キー（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q </a:t>
            </a:r>
            <a:r>
              <a:rPr lang="ja-JP" altLang="en-US" sz="1300" dirty="0">
                <a:solidFill>
                  <a:schemeClr val="tx1"/>
                </a:solidFill>
              </a:rPr>
              <a:t> など）かボタン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指名は 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1 </a:t>
            </a:r>
            <a:r>
              <a:rPr lang="ja-JP" altLang="en-US" sz="1300" dirty="0">
                <a:solidFill>
                  <a:schemeClr val="tx1"/>
                </a:solidFill>
              </a:rPr>
              <a:t>〜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6 </a:t>
            </a:r>
            <a:r>
              <a:rPr lang="ja-JP" altLang="en-US" sz="1300" dirty="0">
                <a:solidFill>
                  <a:schemeClr val="tx1"/>
                </a:solidFill>
              </a:rPr>
              <a:t>（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0 </a:t>
            </a:r>
            <a:r>
              <a:rPr lang="ja-JP" altLang="en-US" sz="1300" dirty="0">
                <a:solidFill>
                  <a:schemeClr val="tx1"/>
                </a:solidFill>
              </a:rPr>
              <a:t> で外す）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間違えたら 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Backspace </a:t>
            </a:r>
            <a:endParaRPr lang="ja-JP" sz="1300" dirty="0"/>
          </a:p>
        </p:txBody>
      </p:sp>
      <p:sp>
        <p:nvSpPr>
          <p:cNvPr id="9" name="arrow1"/>
          <p:cNvSpPr/>
          <p:nvPr/>
        </p:nvSpPr>
        <p:spPr>
          <a:xfrm>
            <a:off x="3471672" y="1997964"/>
            <a:ext cx="310896" cy="384048"/>
          </a:xfrm>
          <a:prstGeom prst="rightArrow">
            <a:avLst/>
          </a:prstGeom>
          <a:solidFill>
            <a:srgbClr val="C9C1B9"/>
          </a:solidFill>
          <a:ln w="12700">
            <a:solidFill>
              <a:srgbClr val="C9C1B9"/>
            </a:solidFill>
            <a:prstDash val="solid"/>
          </a:ln>
        </p:spPr>
      </p:sp>
      <p:sp>
        <p:nvSpPr>
          <p:cNvPr id="10" name="step2"/>
          <p:cNvSpPr/>
          <p:nvPr/>
        </p:nvSpPr>
        <p:spPr>
          <a:xfrm>
            <a:off x="3883152" y="1298448"/>
            <a:ext cx="292303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tep2-num"/>
          <p:cNvSpPr/>
          <p:nvPr/>
        </p:nvSpPr>
        <p:spPr>
          <a:xfrm>
            <a:off x="4066032" y="1481328"/>
            <a:ext cx="420624" cy="42062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step2-num-text"/>
          <p:cNvSpPr txBox="1"/>
          <p:nvPr/>
        </p:nvSpPr>
        <p:spPr>
          <a:xfrm>
            <a:off x="4066032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step2-title"/>
          <p:cNvSpPr txBox="1"/>
          <p:nvPr/>
        </p:nvSpPr>
        <p:spPr>
          <a:xfrm>
            <a:off x="4596384" y="1481328"/>
            <a:ext cx="2054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</a:rPr>
              <a:t>割引・備考</a:t>
            </a:r>
            <a:r>
              <a:rPr lang="ja-JP" altLang="en-US" sz="1200" dirty="0">
                <a:solidFill>
                  <a:srgbClr val="57534E"/>
                </a:solidFill>
              </a:rPr>
              <a:t>（あれば）</a:t>
            </a:r>
            <a:endParaRPr lang="ja-JP" sz="1700" dirty="0"/>
          </a:p>
        </p:txBody>
      </p:sp>
      <p:sp>
        <p:nvSpPr>
          <p:cNvPr id="14" name="step2-body"/>
          <p:cNvSpPr txBox="1"/>
          <p:nvPr/>
        </p:nvSpPr>
        <p:spPr>
          <a:xfrm>
            <a:off x="4066032" y="2029968"/>
            <a:ext cx="255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↓ </a:t>
            </a:r>
            <a:r>
              <a:rPr lang="ja-JP" altLang="en-US" sz="1300" dirty="0">
                <a:solidFill>
                  <a:schemeClr val="tx1"/>
                </a:solidFill>
              </a:rPr>
              <a:t> で割引の欄へ → 引換券番号を 3 桁（例 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001 </a:t>
            </a:r>
            <a:r>
              <a:rPr lang="ja-JP" altLang="en-US" sz="1300" dirty="0">
                <a:solidFill>
                  <a:schemeClr val="tx1"/>
                </a:solidFill>
              </a:rPr>
              <a:t>）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今年以外の券は「特殊な割引」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備考は 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Space </a:t>
            </a:r>
            <a:r>
              <a:rPr lang="ja-JP" altLang="en-US" sz="1300" dirty="0">
                <a:solidFill>
                  <a:schemeClr val="tx1"/>
                </a:solidFill>
              </a:rPr>
              <a:t> で書く</a:t>
            </a:r>
            <a:endParaRPr lang="ja-JP" sz="1300" dirty="0"/>
          </a:p>
        </p:txBody>
      </p:sp>
      <p:sp>
        <p:nvSpPr>
          <p:cNvPr id="15" name="arrow2"/>
          <p:cNvSpPr/>
          <p:nvPr/>
        </p:nvSpPr>
        <p:spPr>
          <a:xfrm>
            <a:off x="6897624" y="1997964"/>
            <a:ext cx="310896" cy="384048"/>
          </a:xfrm>
          <a:prstGeom prst="rightArrow">
            <a:avLst/>
          </a:prstGeom>
          <a:solidFill>
            <a:srgbClr val="C9C1B9"/>
          </a:solidFill>
          <a:ln w="12700">
            <a:solidFill>
              <a:srgbClr val="C9C1B9"/>
            </a:solidFill>
            <a:prstDash val="solid"/>
          </a:ln>
        </p:spPr>
      </p:sp>
      <p:sp>
        <p:nvSpPr>
          <p:cNvPr id="16" name="step3"/>
          <p:cNvSpPr/>
          <p:nvPr/>
        </p:nvSpPr>
        <p:spPr>
          <a:xfrm>
            <a:off x="7309104" y="1298448"/>
            <a:ext cx="292303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tep3-num"/>
          <p:cNvSpPr/>
          <p:nvPr/>
        </p:nvSpPr>
        <p:spPr>
          <a:xfrm>
            <a:off x="7491984" y="1481328"/>
            <a:ext cx="420624" cy="42062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step3-num-text"/>
          <p:cNvSpPr txBox="1"/>
          <p:nvPr/>
        </p:nvSpPr>
        <p:spPr>
          <a:xfrm>
            <a:off x="7491984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step3-title"/>
          <p:cNvSpPr txBox="1"/>
          <p:nvPr/>
        </p:nvSpPr>
        <p:spPr>
          <a:xfrm>
            <a:off x="8022336" y="1481328"/>
            <a:ext cx="2054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</a:rPr>
              <a:t>会計に進む</a:t>
            </a:r>
            <a:endParaRPr lang="ja-JP" sz="1700" dirty="0"/>
          </a:p>
        </p:txBody>
      </p:sp>
      <p:sp>
        <p:nvSpPr>
          <p:cNvPr id="20" name="step3-body"/>
          <p:cNvSpPr txBox="1"/>
          <p:nvPr/>
        </p:nvSpPr>
        <p:spPr>
          <a:xfrm>
            <a:off x="7491984" y="2029968"/>
            <a:ext cx="255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Enter </a:t>
            </a:r>
            <a:r>
              <a:rPr lang="ja-JP" altLang="en-US" sz="1300" dirty="0">
                <a:solidFill>
                  <a:schemeClr val="tx1"/>
                </a:solidFill>
              </a:rPr>
              <a:t>（一括会計）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商品の入力に戻るときは 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Esc </a:t>
            </a:r>
            <a:r>
              <a:rPr lang="ja-JP" altLang="en-US" sz="1300" dirty="0">
                <a:solidFill>
                  <a:schemeClr val="tx1"/>
                </a:solidFill>
              </a:rPr>
              <a:t>（会計取消）</a:t>
            </a:r>
            <a:endParaRPr lang="ja-JP" sz="1300" dirty="0"/>
          </a:p>
        </p:txBody>
      </p:sp>
      <p:sp>
        <p:nvSpPr>
          <p:cNvPr id="21" name="step4-num"/>
          <p:cNvSpPr/>
          <p:nvPr/>
        </p:nvSpPr>
        <p:spPr>
          <a:xfrm>
            <a:off x="457200" y="3264408"/>
            <a:ext cx="420624" cy="42062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step4-num-text"/>
          <p:cNvSpPr txBox="1"/>
          <p:nvPr/>
        </p:nvSpPr>
        <p:spPr>
          <a:xfrm>
            <a:off x="457200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step4-title"/>
          <p:cNvSpPr txBox="1"/>
          <p:nvPr/>
        </p:nvSpPr>
        <p:spPr>
          <a:xfrm>
            <a:off x="987552" y="3264408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</a:rPr>
              <a:t>受け取る</a:t>
            </a:r>
            <a:r>
              <a:rPr lang="ja-JP" altLang="en-US" sz="1200" dirty="0">
                <a:solidFill>
                  <a:srgbClr val="57534E"/>
                </a:solidFill>
              </a:rPr>
              <a:t>　払い方に合わせてどれか 1 つ</a:t>
            </a:r>
            <a:endParaRPr lang="ja-JP" sz="1700" dirty="0"/>
          </a:p>
        </p:txBody>
      </p:sp>
      <p:sp>
        <p:nvSpPr>
          <p:cNvPr id="24" name="lane1"/>
          <p:cNvSpPr/>
          <p:nvPr/>
        </p:nvSpPr>
        <p:spPr>
          <a:xfrm>
            <a:off x="457200" y="3794760"/>
            <a:ext cx="2923032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5" name="lane1-icon-bg"/>
          <p:cNvSpPr/>
          <p:nvPr/>
        </p:nvSpPr>
        <p:spPr>
          <a:xfrm>
            <a:off x="640080" y="395935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lane1-icon" descr="現金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4041648"/>
            <a:ext cx="256032" cy="256032"/>
          </a:xfrm>
          <a:prstGeom prst="rect">
            <a:avLst/>
          </a:prstGeom>
        </p:spPr>
      </p:pic>
      <p:sp>
        <p:nvSpPr>
          <p:cNvPr id="27" name="lane1-title"/>
          <p:cNvSpPr txBox="1"/>
          <p:nvPr/>
        </p:nvSpPr>
        <p:spPr>
          <a:xfrm>
            <a:off x="1170432" y="3959352"/>
            <a:ext cx="2054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chemeClr val="accent2"/>
                </a:solidFill>
              </a:rPr>
              <a:t>現金</a:t>
            </a:r>
            <a:endParaRPr lang="ja-JP" sz="1500" dirty="0"/>
          </a:p>
        </p:txBody>
      </p:sp>
      <p:sp>
        <p:nvSpPr>
          <p:cNvPr id="28" name="lane1-body"/>
          <p:cNvSpPr txBox="1"/>
          <p:nvPr/>
        </p:nvSpPr>
        <p:spPr>
          <a:xfrm>
            <a:off x="640080" y="4507992"/>
            <a:ext cx="2557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受け取った金額を数字で打つ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ちょうどなら、空のまま 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Enter 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お釣りを見て 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Enter </a:t>
            </a:r>
            <a:r>
              <a:rPr lang="ja-JP" altLang="en-US" sz="1300" dirty="0">
                <a:solidFill>
                  <a:schemeClr val="tx1"/>
                </a:solidFill>
              </a:rPr>
              <a:t> で確定</a:t>
            </a:r>
            <a:endParaRPr lang="ja-JP" sz="1300" dirty="0"/>
          </a:p>
        </p:txBody>
      </p:sp>
      <p:sp>
        <p:nvSpPr>
          <p:cNvPr id="29" name="lane1-arrow"/>
          <p:cNvSpPr/>
          <p:nvPr/>
        </p:nvSpPr>
        <p:spPr>
          <a:xfrm>
            <a:off x="1726692" y="5971032"/>
            <a:ext cx="384048" cy="274320"/>
          </a:xfrm>
          <a:prstGeom prst="downArrow">
            <a:avLst/>
          </a:prstGeom>
          <a:solidFill>
            <a:srgbClr val="C9C1B9"/>
          </a:solidFill>
          <a:ln w="12700">
            <a:solidFill>
              <a:srgbClr val="C9C1B9"/>
            </a:solidFill>
            <a:prstDash val="solid"/>
          </a:ln>
        </p:spPr>
      </p:sp>
      <p:sp>
        <p:nvSpPr>
          <p:cNvPr id="30" name="lane2"/>
          <p:cNvSpPr/>
          <p:nvPr/>
        </p:nvSpPr>
        <p:spPr>
          <a:xfrm>
            <a:off x="3883152" y="3794760"/>
            <a:ext cx="2923032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1" name="lane2-icon-bg"/>
          <p:cNvSpPr/>
          <p:nvPr/>
        </p:nvSpPr>
        <p:spPr>
          <a:xfrm>
            <a:off x="4066032" y="39593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lane2-icon" descr="お客さんが端末で選ぶ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8328" y="4041648"/>
            <a:ext cx="256032" cy="256032"/>
          </a:xfrm>
          <a:prstGeom prst="rect">
            <a:avLst/>
          </a:prstGeom>
        </p:spPr>
      </p:pic>
      <p:sp>
        <p:nvSpPr>
          <p:cNvPr id="33" name="lane2-title"/>
          <p:cNvSpPr txBox="1"/>
          <p:nvPr/>
        </p:nvSpPr>
        <p:spPr>
          <a:xfrm>
            <a:off x="4596384" y="3959352"/>
            <a:ext cx="2054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chemeClr val="accent1"/>
                </a:solidFill>
              </a:rPr>
              <a:t>お客さんが端末で選ぶ</a:t>
            </a:r>
            <a:endParaRPr lang="ja-JP" sz="1500" dirty="0"/>
          </a:p>
        </p:txBody>
      </p:sp>
      <p:sp>
        <p:nvSpPr>
          <p:cNvPr id="34" name="lane2-body"/>
          <p:cNvSpPr txBox="1"/>
          <p:nvPr/>
        </p:nvSpPr>
        <p:spPr>
          <a:xfrm>
            <a:off x="4066032" y="4507992"/>
            <a:ext cx="2557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端末に選ぶ画面が出る（レジに「お客さんが端末で選べます」）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カード・QR → 端末で払う → 自動で送信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現金 → 左の「現金」へ</a:t>
            </a:r>
            <a:endParaRPr lang="ja-JP" sz="1300" dirty="0"/>
          </a:p>
        </p:txBody>
      </p:sp>
      <p:sp>
        <p:nvSpPr>
          <p:cNvPr id="35" name="lane2-arrow"/>
          <p:cNvSpPr/>
          <p:nvPr/>
        </p:nvSpPr>
        <p:spPr>
          <a:xfrm>
            <a:off x="5152644" y="5971032"/>
            <a:ext cx="384048" cy="274320"/>
          </a:xfrm>
          <a:prstGeom prst="downArrow">
            <a:avLst/>
          </a:prstGeom>
          <a:solidFill>
            <a:srgbClr val="C9C1B9"/>
          </a:solidFill>
          <a:ln w="12700">
            <a:solidFill>
              <a:srgbClr val="C9C1B9"/>
            </a:solidFill>
            <a:prstDash val="solid"/>
          </a:ln>
        </p:spPr>
      </p:sp>
      <p:sp>
        <p:nvSpPr>
          <p:cNvPr id="36" name="lane3"/>
          <p:cNvSpPr/>
          <p:nvPr/>
        </p:nvSpPr>
        <p:spPr>
          <a:xfrm>
            <a:off x="7309104" y="3794760"/>
            <a:ext cx="2923032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7" name="lane3-icon-bg"/>
          <p:cNvSpPr/>
          <p:nvPr/>
        </p:nvSpPr>
        <p:spPr>
          <a:xfrm>
            <a:off x="7491984" y="39593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8" name="lane3-icon" descr="レジで Square を選ぶ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4280" y="4041648"/>
            <a:ext cx="256032" cy="256032"/>
          </a:xfrm>
          <a:prstGeom prst="rect">
            <a:avLst/>
          </a:prstGeom>
        </p:spPr>
      </p:pic>
      <p:sp>
        <p:nvSpPr>
          <p:cNvPr id="39" name="lane3-title"/>
          <p:cNvSpPr txBox="1"/>
          <p:nvPr/>
        </p:nvSpPr>
        <p:spPr>
          <a:xfrm>
            <a:off x="8022336" y="3959352"/>
            <a:ext cx="2054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chemeClr val="accent1"/>
                </a:solidFill>
              </a:rPr>
              <a:t>レジで Square を選ぶ</a:t>
            </a:r>
            <a:endParaRPr lang="ja-JP" sz="1500" dirty="0"/>
          </a:p>
        </p:txBody>
      </p:sp>
      <p:sp>
        <p:nvSpPr>
          <p:cNvPr id="40" name="lane3-body"/>
          <p:cNvSpPr txBox="1"/>
          <p:nvPr/>
        </p:nvSpPr>
        <p:spPr>
          <a:xfrm>
            <a:off x="7491984" y="4507992"/>
            <a:ext cx="2557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↓ </a:t>
            </a:r>
            <a:r>
              <a:rPr lang="ja-JP" altLang="en-US" sz="1300" dirty="0">
                <a:solidFill>
                  <a:schemeClr val="tx1"/>
                </a:solidFill>
              </a:rPr>
              <a:t> でカード／QR コード → 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Enter </a:t>
            </a:r>
            <a:r>
              <a:rPr lang="ja-JP" altLang="en-US" sz="1300" dirty="0">
                <a:solidFill>
                  <a:schemeClr val="tx1"/>
                </a:solidFill>
              </a:rPr>
              <a:t>（端末に送る）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端末で払う → 自動で送信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近道：カードは 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Alt+T </a:t>
            </a:r>
            <a:r>
              <a:rPr lang="ja-JP" altLang="en-US" sz="1300" dirty="0">
                <a:solidFill>
                  <a:schemeClr val="tx1"/>
                </a:solidFill>
              </a:rPr>
              <a:t>、QR は 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Alt+Q </a:t>
            </a:r>
            <a:endParaRPr lang="ja-JP" sz="1300" dirty="0"/>
          </a:p>
        </p:txBody>
      </p:sp>
      <p:sp>
        <p:nvSpPr>
          <p:cNvPr id="41" name="lane3-arrow"/>
          <p:cNvSpPr/>
          <p:nvPr/>
        </p:nvSpPr>
        <p:spPr>
          <a:xfrm>
            <a:off x="8578596" y="5971032"/>
            <a:ext cx="384048" cy="274320"/>
          </a:xfrm>
          <a:prstGeom prst="downArrow">
            <a:avLst/>
          </a:prstGeom>
          <a:solidFill>
            <a:srgbClr val="C9C1B9"/>
          </a:solidFill>
          <a:ln w="12700">
            <a:solidFill>
              <a:srgbClr val="C9C1B9"/>
            </a:solidFill>
            <a:prstDash val="solid"/>
          </a:ln>
        </p:spPr>
      </p:sp>
      <p:sp>
        <p:nvSpPr>
          <p:cNvPr id="42" name="done"/>
          <p:cNvSpPr/>
          <p:nvPr/>
        </p:nvSpPr>
        <p:spPr>
          <a:xfrm>
            <a:off x="457200" y="6281928"/>
            <a:ext cx="9774936" cy="658368"/>
          </a:xfrm>
          <a:prstGeom prst="roundRect">
            <a:avLst>
              <a:gd name="adj" fmla="val 16667"/>
            </a:avLst>
          </a:prstGeom>
          <a:solidFill>
            <a:srgbClr val="E9F2EC"/>
          </a:solidFill>
          <a:ln w="12700">
            <a:solidFill>
              <a:srgbClr val="E9F2EC"/>
            </a:solidFill>
            <a:prstDash val="solid"/>
          </a:ln>
        </p:spPr>
      </p:sp>
      <p:sp>
        <p:nvSpPr>
          <p:cNvPr id="43" name="done-num"/>
          <p:cNvSpPr/>
          <p:nvPr/>
        </p:nvSpPr>
        <p:spPr>
          <a:xfrm>
            <a:off x="640080" y="6400800"/>
            <a:ext cx="420624" cy="42062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4" name="done-num-text"/>
          <p:cNvSpPr txBox="1"/>
          <p:nvPr/>
        </p:nvSpPr>
        <p:spPr>
          <a:xfrm>
            <a:off x="640080" y="6400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45" name="done-text"/>
          <p:cNvSpPr txBox="1"/>
          <p:nvPr/>
        </p:nvSpPr>
        <p:spPr>
          <a:xfrm>
            <a:off x="1170432" y="6281928"/>
            <a:ext cx="88605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accent5"/>
                </a:solidFill>
              </a:rPr>
              <a:t>完了　</a:t>
            </a:r>
            <a:r>
              <a:rPr lang="ja-JP" altLang="en-US" sz="1300" dirty="0">
                <a:solidFill>
                  <a:schemeClr val="tx1"/>
                </a:solidFill>
              </a:rPr>
              <a:t>「No.N を送信しました」が出てベルが鳴る → シールとレシートが出る → 次の注文へ</a:t>
            </a:r>
            <a:endParaRPr lang="ja-JP" sz="1700" dirty="0"/>
          </a:p>
        </p:txBody>
      </p:sp>
      <p:sp>
        <p:nvSpPr>
          <p:cNvPr id="46" name="Text 41"/>
          <p:cNvSpPr txBox="1"/>
          <p:nvPr/>
        </p:nvSpPr>
        <p:spPr>
          <a:xfrm>
            <a:off x="457200" y="7178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rgbClr val="8A8079"/>
                </a:solidFill>
              </a:rPr>
              <a:t>困ったときは 2 枚目へ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317736" y="717804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07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2800" b="1" dirty="0">
                <a:solidFill>
                  <a:schemeClr val="tx2"/>
                </a:solidFill>
              </a:rPr>
              <a:t>こんなときは</a:t>
            </a:r>
            <a:endParaRPr lang="ja-JP" sz="2800" dirty="0"/>
          </a:p>
        </p:txBody>
      </p:sp>
      <p:sp>
        <p:nvSpPr>
          <p:cNvPr id="3" name="case1"/>
          <p:cNvSpPr/>
          <p:nvPr/>
        </p:nvSpPr>
        <p:spPr>
          <a:xfrm>
            <a:off x="457200" y="1143000"/>
            <a:ext cx="3075432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se1-icon-bg"/>
          <p:cNvSpPr/>
          <p:nvPr/>
        </p:nvSpPr>
        <p:spPr>
          <a:xfrm>
            <a:off x="658368" y="1344168"/>
            <a:ext cx="475488" cy="47548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case1-icon" descr="分けて払いた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35608"/>
            <a:ext cx="292608" cy="292608"/>
          </a:xfrm>
          <a:prstGeom prst="rect">
            <a:avLst/>
          </a:prstGeom>
        </p:spPr>
      </p:pic>
      <p:sp>
        <p:nvSpPr>
          <p:cNvPr id="6" name="case1-title"/>
          <p:cNvSpPr txBox="1"/>
          <p:nvPr/>
        </p:nvSpPr>
        <p:spPr>
          <a:xfrm>
            <a:off x="1261872" y="1344168"/>
            <a:ext cx="2115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chemeClr val="tx1"/>
                </a:solidFill>
              </a:rPr>
              <a:t>分けて払いたい</a:t>
            </a:r>
            <a:endParaRPr lang="ja-JP" sz="1600" dirty="0"/>
          </a:p>
        </p:txBody>
      </p:sp>
      <p:sp>
        <p:nvSpPr>
          <p:cNvPr id="7" name="case1-body"/>
          <p:cNvSpPr txBox="1"/>
          <p:nvPr/>
        </p:nvSpPr>
        <p:spPr>
          <a:xfrm>
            <a:off x="658368" y="1984248"/>
            <a:ext cx="26730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商品ごと：「個別小計」で商品を選ぶ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金額で：会計中に「小計分割・一部金額先払い」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受け取るたびに「残りを全て会計」などを選ぶ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最後に「会計しました」→ 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Enter </a:t>
            </a:r>
            <a:endParaRPr lang="ja-JP" sz="1300" dirty="0"/>
          </a:p>
        </p:txBody>
      </p:sp>
      <p:sp>
        <p:nvSpPr>
          <p:cNvPr id="8" name="case2"/>
          <p:cNvSpPr/>
          <p:nvPr/>
        </p:nvSpPr>
        <p:spPr>
          <a:xfrm>
            <a:off x="3806952" y="1143000"/>
            <a:ext cx="3075432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se2-icon-bg"/>
          <p:cNvSpPr/>
          <p:nvPr/>
        </p:nvSpPr>
        <p:spPr>
          <a:xfrm>
            <a:off x="4008120" y="1344168"/>
            <a:ext cx="475488" cy="47548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0" name="case2-icon" descr="決済できなかった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560" y="1435608"/>
            <a:ext cx="292608" cy="292608"/>
          </a:xfrm>
          <a:prstGeom prst="rect">
            <a:avLst/>
          </a:prstGeom>
        </p:spPr>
      </p:pic>
      <p:sp>
        <p:nvSpPr>
          <p:cNvPr id="11" name="case2-title"/>
          <p:cNvSpPr txBox="1"/>
          <p:nvPr/>
        </p:nvSpPr>
        <p:spPr>
          <a:xfrm>
            <a:off x="4611624" y="1344168"/>
            <a:ext cx="2115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chemeClr val="tx1"/>
                </a:solidFill>
              </a:rPr>
              <a:t>決済できなかった</a:t>
            </a:r>
            <a:endParaRPr lang="ja-JP" sz="1600" dirty="0"/>
          </a:p>
        </p:txBody>
      </p:sp>
      <p:sp>
        <p:nvSpPr>
          <p:cNvPr id="12" name="case2-body"/>
          <p:cNvSpPr txBox="1"/>
          <p:nvPr/>
        </p:nvSpPr>
        <p:spPr>
          <a:xfrm>
            <a:off x="4008120" y="1984248"/>
            <a:ext cx="26730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「決済できませんでした」→ お金は</a:t>
            </a:r>
            <a:r>
              <a:rPr lang="ja-JP" altLang="en-US" sz="1300" b="1" dirty="0">
                <a:solidFill>
                  <a:schemeClr val="tx1"/>
                </a:solidFill>
              </a:rPr>
              <a:t>受け取っていない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「もう一度送る」か、「閉じる」→ 現金で受け取る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残高が足りないときは「一部金額を先払い」</a:t>
            </a:r>
            <a:endParaRPr lang="ja-JP" sz="1300" dirty="0"/>
          </a:p>
        </p:txBody>
      </p:sp>
      <p:sp>
        <p:nvSpPr>
          <p:cNvPr id="13" name="case3"/>
          <p:cNvSpPr/>
          <p:nvPr/>
        </p:nvSpPr>
        <p:spPr>
          <a:xfrm>
            <a:off x="7156704" y="1143000"/>
            <a:ext cx="3075432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ase3-icon-bg"/>
          <p:cNvSpPr/>
          <p:nvPr/>
        </p:nvSpPr>
        <p:spPr>
          <a:xfrm>
            <a:off x="7357872" y="1344168"/>
            <a:ext cx="475488" cy="47548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case3-icon" descr="払ったのに送れない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9312" y="1435608"/>
            <a:ext cx="292608" cy="292608"/>
          </a:xfrm>
          <a:prstGeom prst="rect">
            <a:avLst/>
          </a:prstGeom>
        </p:spPr>
      </p:pic>
      <p:sp>
        <p:nvSpPr>
          <p:cNvPr id="16" name="case3-title"/>
          <p:cNvSpPr txBox="1"/>
          <p:nvPr/>
        </p:nvSpPr>
        <p:spPr>
          <a:xfrm>
            <a:off x="7961376" y="1344168"/>
            <a:ext cx="2115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chemeClr val="tx1"/>
                </a:solidFill>
              </a:rPr>
              <a:t>払ったのに送れない</a:t>
            </a:r>
            <a:endParaRPr lang="ja-JP" sz="1600" dirty="0"/>
          </a:p>
        </p:txBody>
      </p:sp>
      <p:sp>
        <p:nvSpPr>
          <p:cNvPr id="17" name="case3-body"/>
          <p:cNvSpPr txBox="1"/>
          <p:nvPr/>
        </p:nvSpPr>
        <p:spPr>
          <a:xfrm>
            <a:off x="7357872" y="1984248"/>
            <a:ext cx="26730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「お金は受け取っています」と出たら、</a:t>
            </a:r>
            <a:r>
              <a:rPr lang="ja-JP" altLang="en-US" sz="1300" b="1" dirty="0">
                <a:solidFill>
                  <a:schemeClr val="tx1"/>
                </a:solidFill>
              </a:rPr>
              <a:t>現金で取り直さない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「注文を送信」を押す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送れないときは、右上の「未登録の Square 決済」から登録</a:t>
            </a:r>
            <a:endParaRPr lang="ja-JP" sz="1300" dirty="0"/>
          </a:p>
        </p:txBody>
      </p:sp>
      <p:sp>
        <p:nvSpPr>
          <p:cNvPr id="18" name="case4"/>
          <p:cNvSpPr/>
          <p:nvPr/>
        </p:nvSpPr>
        <p:spPr>
          <a:xfrm>
            <a:off x="457200" y="4206240"/>
            <a:ext cx="3075432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ase4-icon-bg"/>
          <p:cNvSpPr/>
          <p:nvPr/>
        </p:nvSpPr>
        <p:spPr>
          <a:xfrm>
            <a:off x="658368" y="4407408"/>
            <a:ext cx="475488" cy="475488"/>
          </a:xfrm>
          <a:prstGeom prst="ellipse">
            <a:avLst/>
          </a:prstGeom>
          <a:solidFill>
            <a:srgbClr val="57534E"/>
          </a:solidFill>
          <a:ln w="12700">
            <a:solidFill>
              <a:srgbClr val="57534E"/>
            </a:solidFill>
            <a:prstDash val="solid"/>
          </a:ln>
        </p:spPr>
      </p:sp>
      <p:pic>
        <p:nvPicPr>
          <p:cNvPr id="20" name="case4-icon" descr="入力をやめる・直す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498848"/>
            <a:ext cx="292608" cy="292608"/>
          </a:xfrm>
          <a:prstGeom prst="rect">
            <a:avLst/>
          </a:prstGeom>
        </p:spPr>
      </p:pic>
      <p:sp>
        <p:nvSpPr>
          <p:cNvPr id="21" name="case4-title"/>
          <p:cNvSpPr txBox="1"/>
          <p:nvPr/>
        </p:nvSpPr>
        <p:spPr>
          <a:xfrm>
            <a:off x="1261872" y="4407408"/>
            <a:ext cx="2115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chemeClr val="tx1"/>
                </a:solidFill>
              </a:rPr>
              <a:t>入力をやめる・直す</a:t>
            </a:r>
            <a:endParaRPr lang="ja-JP" sz="1600" dirty="0"/>
          </a:p>
        </p:txBody>
      </p:sp>
      <p:sp>
        <p:nvSpPr>
          <p:cNvPr id="22" name="case4-body"/>
          <p:cNvSpPr txBox="1"/>
          <p:nvPr/>
        </p:nvSpPr>
        <p:spPr>
          <a:xfrm>
            <a:off x="658368" y="5047488"/>
            <a:ext cx="26730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1 行消す：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Backspace 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全部消す：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Esc </a:t>
            </a:r>
            <a:r>
              <a:rPr lang="ja-JP" altLang="en-US" sz="1300" dirty="0">
                <a:solidFill>
                  <a:schemeClr val="tx1"/>
                </a:solidFill>
              </a:rPr>
              <a:t> →「消す」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会計中は </a:t>
            </a:r>
            <a:r>
              <a:rPr lang="ja-JP" altLang="en-US" sz="1300" b="1" dirty="0">
                <a:solidFill>
                  <a:schemeClr val="tx1"/>
                </a:solidFill>
                <a:highlight>
                  <a:srgbClr val="E7E5E4"/>
                </a:highlight>
                <a:latin typeface="Yu Gothic" pitchFamily="34" charset="0"/>
                <a:ea typeface="Yu Gothic" pitchFamily="34" charset="-122"/>
                <a:cs typeface="Yu Gothic" pitchFamily="34" charset="-120"/>
              </a:rPr>
              <a:t> Esc </a:t>
            </a:r>
            <a:r>
              <a:rPr lang="ja-JP" altLang="en-US" sz="1300" dirty="0">
                <a:solidFill>
                  <a:schemeClr val="tx1"/>
                </a:solidFill>
              </a:rPr>
              <a:t> で会計取消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先払いがあるときは「先払いを取り消す」で返金してから</a:t>
            </a:r>
            <a:endParaRPr lang="ja-JP" sz="1300" dirty="0"/>
          </a:p>
        </p:txBody>
      </p:sp>
      <p:sp>
        <p:nvSpPr>
          <p:cNvPr id="23" name="case5"/>
          <p:cNvSpPr/>
          <p:nvPr/>
        </p:nvSpPr>
        <p:spPr>
          <a:xfrm>
            <a:off x="3806952" y="4206240"/>
            <a:ext cx="3075432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case5-icon-bg"/>
          <p:cNvSpPr/>
          <p:nvPr/>
        </p:nvSpPr>
        <p:spPr>
          <a:xfrm>
            <a:off x="4008120" y="440740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case5-icon" descr="オフライン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9560" y="4498848"/>
            <a:ext cx="292608" cy="292608"/>
          </a:xfrm>
          <a:prstGeom prst="rect">
            <a:avLst/>
          </a:prstGeom>
        </p:spPr>
      </p:pic>
      <p:sp>
        <p:nvSpPr>
          <p:cNvPr id="26" name="case5-title"/>
          <p:cNvSpPr txBox="1"/>
          <p:nvPr/>
        </p:nvSpPr>
        <p:spPr>
          <a:xfrm>
            <a:off x="4611624" y="4407408"/>
            <a:ext cx="2115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chemeClr val="tx1"/>
                </a:solidFill>
              </a:rPr>
              <a:t>オフライン</a:t>
            </a:r>
            <a:endParaRPr lang="ja-JP" sz="1600" dirty="0"/>
          </a:p>
        </p:txBody>
      </p:sp>
      <p:sp>
        <p:nvSpPr>
          <p:cNvPr id="27" name="case5-body"/>
          <p:cNvSpPr txBox="1"/>
          <p:nvPr/>
        </p:nvSpPr>
        <p:spPr>
          <a:xfrm>
            <a:off x="4008120" y="5047488"/>
            <a:ext cx="26730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上の帯が赤・番号の横に「オフライン」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「No.」を押して番号を付けると確定できる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現金のみ（Square 不可）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b="1" dirty="0">
                <a:solidFill>
                  <a:schemeClr val="tx1"/>
                </a:solidFill>
              </a:rPr>
              <a:t>復旧後は必ず「自動に戻す」</a:t>
            </a:r>
            <a:endParaRPr lang="ja-JP" sz="1300" dirty="0"/>
          </a:p>
        </p:txBody>
      </p:sp>
      <p:sp>
        <p:nvSpPr>
          <p:cNvPr id="28" name="case6"/>
          <p:cNvSpPr/>
          <p:nvPr/>
        </p:nvSpPr>
        <p:spPr>
          <a:xfrm>
            <a:off x="7156704" y="4206240"/>
            <a:ext cx="3075432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case6-icon-bg"/>
          <p:cNvSpPr/>
          <p:nvPr/>
        </p:nvSpPr>
        <p:spPr>
          <a:xfrm>
            <a:off x="7357872" y="4407408"/>
            <a:ext cx="475488" cy="47548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30" name="case6-icon" descr="印刷されない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9312" y="4498848"/>
            <a:ext cx="292608" cy="292608"/>
          </a:xfrm>
          <a:prstGeom prst="rect">
            <a:avLst/>
          </a:prstGeom>
        </p:spPr>
      </p:pic>
      <p:sp>
        <p:nvSpPr>
          <p:cNvPr id="31" name="case6-title"/>
          <p:cNvSpPr txBox="1"/>
          <p:nvPr/>
        </p:nvSpPr>
        <p:spPr>
          <a:xfrm>
            <a:off x="7961376" y="4407408"/>
            <a:ext cx="2115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chemeClr val="tx1"/>
                </a:solidFill>
              </a:rPr>
              <a:t>印刷されない</a:t>
            </a:r>
            <a:endParaRPr lang="ja-JP" sz="1600" dirty="0"/>
          </a:p>
        </p:txBody>
      </p:sp>
      <p:sp>
        <p:nvSpPr>
          <p:cNvPr id="32" name="case6-body"/>
          <p:cNvSpPr txBox="1"/>
          <p:nvPr/>
        </p:nvSpPr>
        <p:spPr>
          <a:xfrm>
            <a:off x="7357872" y="5047488"/>
            <a:ext cx="26730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シール・レシートが出ない → 電源・紙・カバーを確かめる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「未印刷 N 件」が出たら「もう一度刷る」</a:t>
            </a:r>
            <a:endParaRPr lang="ja-JP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ja-JP" altLang="en-US" sz="1300" dirty="0">
                <a:solidFill>
                  <a:schemeClr val="tx1"/>
                </a:solidFill>
              </a:rPr>
              <a:t>直らなければ責任者に連絡</a:t>
            </a:r>
            <a:endParaRPr lang="ja-JP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7178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rgbClr val="8A8079"/>
                </a:solidFill>
              </a:rPr>
              <a:t>くわしくは「レジ操作マニュアル」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317736" y="7178040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07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feore POS">
  <a:themeElements>
    <a:clrScheme name="Cafeore POS">
      <a:dk1>
        <a:srgbClr val="1C1917"/>
      </a:dk1>
      <a:lt1>
        <a:srgbClr val="FFFFFF"/>
      </a:lt1>
      <a:dk2>
        <a:srgbClr val="834F2F"/>
      </a:dk2>
      <a:lt2>
        <a:srgbClr val="F4F1EE"/>
      </a:lt2>
      <a:accent1>
        <a:srgbClr val="2C5B7F"/>
      </a:accent1>
      <a:accent2>
        <a:srgbClr val="C2531F"/>
      </a:accent2>
      <a:accent3>
        <a:srgbClr val="9B5C73"/>
      </a:accent3>
      <a:accent4>
        <a:srgbClr val="B09860"/>
      </a:accent4>
      <a:accent5>
        <a:srgbClr val="15803D"/>
      </a:accent5>
      <a:accent6>
        <a:srgbClr val="B91C1C"/>
      </a:accent6>
      <a:hlink>
        <a:srgbClr val="2C5B7F"/>
      </a:hlink>
      <a:folHlink>
        <a:srgbClr val="6E3B4F"/>
      </a:folHlink>
    </a:clrScheme>
    <a:fontScheme name="Cafeore POS">
      <a:majorFont>
        <a:latin typeface="Yu Gothic"/>
        <a:ea typeface="Yu Gothi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Yu Gothi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注文を受ける流れ（レジ）</dc:title>
  <dc:subject>PptxGenJS Presentation</dc:subject>
  <dc:creator>PptxGenJS</dc:creator>
  <cp:lastModifiedBy>PptxGenJS</cp:lastModifiedBy>
  <cp:revision>1</cp:revision>
  <dcterms:created xsi:type="dcterms:W3CDTF">2026-10-17T20:30:20Z</dcterms:created>
  <dcterms:modified xsi:type="dcterms:W3CDTF">2026-10-17T20:30:20Z</dcterms:modified>
</cp:coreProperties>
</file>